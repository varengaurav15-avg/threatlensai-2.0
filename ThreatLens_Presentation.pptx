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250122" y="5040598"/>
            <a:ext cx="70887" cy="70887"/>
          </a:xfrm>
          <a:prstGeom prst="ellipse">
            <a:avLst/>
          </a:prstGeom>
          <a:solidFill>
            <a:srgbClr val="00D4FF">
              <a:alpha val="32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919740" y="1400801"/>
            <a:ext cx="77685" cy="77685"/>
          </a:xfrm>
          <a:prstGeom prst="ellipse">
            <a:avLst/>
          </a:prstGeom>
          <a:solidFill>
            <a:srgbClr val="00D4FF">
              <a:alpha val="4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310532" y="237717"/>
            <a:ext cx="42778" cy="4277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671768" y="4036823"/>
            <a:ext cx="89562" cy="89562"/>
          </a:xfrm>
          <a:prstGeom prst="ellipse">
            <a:avLst/>
          </a:prstGeom>
          <a:solidFill>
            <a:srgbClr val="ECC155">
              <a:alpha val="4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073810" y="204574"/>
            <a:ext cx="45134" cy="45134"/>
          </a:xfrm>
          <a:prstGeom prst="ellipse">
            <a:avLst/>
          </a:prstGeom>
          <a:solidFill>
            <a:srgbClr val="ECC155">
              <a:alpha val="2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95254" y="1754357"/>
            <a:ext cx="79815" cy="79815"/>
          </a:xfrm>
          <a:prstGeom prst="ellipse">
            <a:avLst/>
          </a:prstGeom>
          <a:solidFill>
            <a:srgbClr val="00D4FF">
              <a:alpha val="2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111581" y="4510032"/>
            <a:ext cx="90623" cy="90623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536035" y="1930782"/>
            <a:ext cx="38897" cy="38897"/>
          </a:xfrm>
          <a:prstGeom prst="ellipse">
            <a:avLst/>
          </a:prstGeom>
          <a:solidFill>
            <a:srgbClr val="ECC155">
              <a:alpha val="41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559573" y="1295290"/>
            <a:ext cx="67326" cy="67326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59205" y="4896686"/>
            <a:ext cx="50575" cy="50575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1095552" y="891018"/>
            <a:ext cx="61402" cy="61402"/>
          </a:xfrm>
          <a:prstGeom prst="ellipse">
            <a:avLst/>
          </a:prstGeom>
          <a:solidFill>
            <a:srgbClr val="ECC155">
              <a:alpha val="4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279090" y="658861"/>
            <a:ext cx="41590" cy="4159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682880" y="2769910"/>
            <a:ext cx="78511" cy="78511"/>
          </a:xfrm>
          <a:prstGeom prst="ellipse">
            <a:avLst/>
          </a:prstGeom>
          <a:solidFill>
            <a:srgbClr val="FFFFFF">
              <a:alpha val="2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724851" y="1291978"/>
            <a:ext cx="68376" cy="68376"/>
          </a:xfrm>
          <a:prstGeom prst="ellipse">
            <a:avLst/>
          </a:prstGeom>
          <a:solidFill>
            <a:srgbClr val="ECC155">
              <a:alpha val="3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501162" y="4624087"/>
            <a:ext cx="49737" cy="49737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434574" y="1638280"/>
            <a:ext cx="73394" cy="73394"/>
          </a:xfrm>
          <a:prstGeom prst="ellipse">
            <a:avLst/>
          </a:prstGeom>
          <a:solidFill>
            <a:srgbClr val="00D4FF">
              <a:alpha val="3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873053" y="2301464"/>
            <a:ext cx="42407" cy="4240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451614" y="3939504"/>
            <a:ext cx="67677" cy="67677"/>
          </a:xfrm>
          <a:prstGeom prst="ellipse">
            <a:avLst/>
          </a:prstGeom>
          <a:solidFill>
            <a:srgbClr val="FFFFFF">
              <a:alpha val="2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543868" y="2872420"/>
            <a:ext cx="32216" cy="32216"/>
          </a:xfrm>
          <a:prstGeom prst="ellipse">
            <a:avLst/>
          </a:prstGeom>
          <a:solidFill>
            <a:srgbClr val="ECC155">
              <a:alpha val="4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443712" y="1028914"/>
            <a:ext cx="70126" cy="70126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681494" y="2231377"/>
            <a:ext cx="48253" cy="48253"/>
          </a:xfrm>
          <a:prstGeom prst="ellipse">
            <a:avLst/>
          </a:prstGeom>
          <a:solidFill>
            <a:srgbClr val="00D4FF">
              <a:alpha val="4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69527" y="2851522"/>
            <a:ext cx="66503" cy="66503"/>
          </a:xfrm>
          <a:prstGeom prst="ellipse">
            <a:avLst/>
          </a:prstGeom>
          <a:solidFill>
            <a:srgbClr val="00D4FF">
              <a:alpha val="17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594897" y="278664"/>
            <a:ext cx="46892" cy="46892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497189" y="5730460"/>
            <a:ext cx="30999" cy="30999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227578" y="5929267"/>
            <a:ext cx="31082" cy="31082"/>
          </a:xfrm>
          <a:prstGeom prst="ellipse">
            <a:avLst/>
          </a:prstGeom>
          <a:solidFill>
            <a:srgbClr val="ECC155">
              <a:alpha val="4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31559" y="907859"/>
            <a:ext cx="71928" cy="71928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45885" y="1735559"/>
            <a:ext cx="70190" cy="70190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6550594" y="6076045"/>
            <a:ext cx="58617" cy="58617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375103" y="718097"/>
            <a:ext cx="80672" cy="80672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991405" y="5489401"/>
            <a:ext cx="79285" cy="79285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420195" y="568943"/>
            <a:ext cx="66526" cy="66526"/>
          </a:xfrm>
          <a:prstGeom prst="ellipse">
            <a:avLst/>
          </a:prstGeom>
          <a:solidFill>
            <a:srgbClr val="ECC155">
              <a:alpha val="2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722172" y="6146190"/>
            <a:ext cx="73783" cy="73783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995064" y="5419332"/>
            <a:ext cx="33357" cy="33357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995747" y="3089150"/>
            <a:ext cx="28101" cy="28101"/>
          </a:xfrm>
          <a:prstGeom prst="ellipse">
            <a:avLst/>
          </a:prstGeom>
          <a:solidFill>
            <a:srgbClr val="00D4FF">
              <a:alpha val="3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306791" y="2645074"/>
            <a:ext cx="71996" cy="71996"/>
          </a:xfrm>
          <a:prstGeom prst="ellipse">
            <a:avLst/>
          </a:prstGeom>
          <a:solidFill>
            <a:srgbClr val="ECC155">
              <a:alpha val="3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92640" y="182880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1A2E4A">
              <a:alpha val="40000"/>
            </a:srgbClr>
          </a:solidFill>
          <a:ln w="12700">
            <a:solidFill>
              <a:srgbClr val="6B7FA3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Text 298"/>
          <p:cNvSpPr/>
          <p:nvPr/>
        </p:nvSpPr>
        <p:spPr>
          <a:xfrm>
            <a:off x="9738360" y="201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BUILD ON BASE HACKATHON</a:t>
            </a:r>
            <a:endParaRPr lang="en-US" sz="650" dirty="0"/>
          </a:p>
        </p:txBody>
      </p:sp>
      <p:sp>
        <p:nvSpPr>
          <p:cNvPr id="301" name="Shape 299"/>
          <p:cNvSpPr/>
          <p:nvPr/>
        </p:nvSpPr>
        <p:spPr>
          <a:xfrm>
            <a:off x="5394960" y="1691640"/>
            <a:ext cx="1371600" cy="1371600"/>
          </a:xfrm>
          <a:prstGeom prst="ellipse">
            <a:avLst/>
          </a:prstGeom>
          <a:solidFill>
            <a:srgbClr val="ECC155">
              <a:alpha val="2000"/>
            </a:srgbClr>
          </a:solidFill>
          <a:ln w="635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029200" y="1325880"/>
            <a:ext cx="2103120" cy="2103120"/>
          </a:xfrm>
          <a:prstGeom prst="ellipse">
            <a:avLst/>
          </a:prstGeom>
          <a:solidFill>
            <a:srgbClr val="ECC155">
              <a:alpha val="2000"/>
            </a:srgbClr>
          </a:solidFill>
          <a:ln w="635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663440" y="960120"/>
            <a:ext cx="2834640" cy="2834640"/>
          </a:xfrm>
          <a:prstGeom prst="ellipse">
            <a:avLst/>
          </a:prstGeom>
          <a:solidFill>
            <a:srgbClr val="ECC155">
              <a:alpha val="2000"/>
            </a:srgbClr>
          </a:solidFill>
          <a:ln w="635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297680" y="594360"/>
            <a:ext cx="3566160" cy="3566160"/>
          </a:xfrm>
          <a:prstGeom prst="ellipse">
            <a:avLst/>
          </a:prstGeom>
          <a:solidFill>
            <a:srgbClr val="ECC155">
              <a:alpha val="2000"/>
            </a:srgbClr>
          </a:solidFill>
          <a:ln w="635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54864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INTELLIGENCE PLATFORM</a:t>
            </a:r>
            <a:endParaRPr lang="en-US" sz="800" dirty="0"/>
          </a:p>
        </p:txBody>
      </p:sp>
      <p:sp>
        <p:nvSpPr>
          <p:cNvPr id="306" name="Shape 304"/>
          <p:cNvSpPr/>
          <p:nvPr/>
        </p:nvSpPr>
        <p:spPr>
          <a:xfrm>
            <a:off x="548640" y="1261872"/>
            <a:ext cx="45720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ThreatLens</a:t>
            </a:r>
            <a:endParaRPr lang="en-US" sz="7200" dirty="0"/>
          </a:p>
        </p:txBody>
      </p:sp>
      <p:sp>
        <p:nvSpPr>
          <p:cNvPr id="308" name="Text 306"/>
          <p:cNvSpPr/>
          <p:nvPr/>
        </p:nvSpPr>
        <p:spPr>
          <a:xfrm>
            <a:off x="54864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8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2 . 1</a:t>
            </a:r>
            <a:endParaRPr lang="en-US" sz="2200" dirty="0"/>
          </a:p>
        </p:txBody>
      </p:sp>
      <p:sp>
        <p:nvSpPr>
          <p:cNvPr id="309" name="Text 307"/>
          <p:cNvSpPr/>
          <p:nvPr/>
        </p:nvSpPr>
        <p:spPr>
          <a:xfrm>
            <a:off x="54864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Unified Threat Intelligence &amp; Cyber Defense Platform</a:t>
            </a:r>
            <a:endParaRPr lang="en-US" sz="1600" dirty="0"/>
          </a:p>
        </p:txBody>
      </p:sp>
      <p:sp>
        <p:nvSpPr>
          <p:cNvPr id="310" name="Shape 308"/>
          <p:cNvSpPr/>
          <p:nvPr/>
        </p:nvSpPr>
        <p:spPr>
          <a:xfrm>
            <a:off x="548640" y="4572000"/>
            <a:ext cx="1188720" cy="384048"/>
          </a:xfrm>
          <a:prstGeom prst="roundRect">
            <a:avLst>
              <a:gd name="adj" fmla="val 28571"/>
            </a:avLst>
          </a:prstGeom>
          <a:solidFill>
            <a:srgbClr val="FF4B4B">
              <a:alpha val="12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1" name="Text 309"/>
          <p:cNvSpPr/>
          <p:nvPr/>
        </p:nvSpPr>
        <p:spPr>
          <a:xfrm>
            <a:off x="548640" y="4590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900" dirty="0"/>
          </a:p>
        </p:txBody>
      </p:sp>
      <p:sp>
        <p:nvSpPr>
          <p:cNvPr id="312" name="Shape 310"/>
          <p:cNvSpPr/>
          <p:nvPr/>
        </p:nvSpPr>
        <p:spPr>
          <a:xfrm>
            <a:off x="1920240" y="4572000"/>
            <a:ext cx="1188720" cy="384048"/>
          </a:xfrm>
          <a:prstGeom prst="roundRect">
            <a:avLst>
              <a:gd name="adj" fmla="val 28571"/>
            </a:avLst>
          </a:prstGeom>
          <a:solidFill>
            <a:srgbClr val="ECC155">
              <a:alpha val="12000"/>
            </a:srgbClr>
          </a:solidFill>
          <a:ln w="12700">
            <a:solidFill>
              <a:srgbClr val="ECC155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3" name="Text 311"/>
          <p:cNvSpPr/>
          <p:nvPr/>
        </p:nvSpPr>
        <p:spPr>
          <a:xfrm>
            <a:off x="1920240" y="4590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</a:t>
            </a:r>
            <a:endParaRPr lang="en-US" sz="900" dirty="0"/>
          </a:p>
        </p:txBody>
      </p:sp>
      <p:sp>
        <p:nvSpPr>
          <p:cNvPr id="314" name="Shape 312"/>
          <p:cNvSpPr/>
          <p:nvPr/>
        </p:nvSpPr>
        <p:spPr>
          <a:xfrm>
            <a:off x="3291840" y="4572000"/>
            <a:ext cx="1188720" cy="384048"/>
          </a:xfrm>
          <a:prstGeom prst="roundRect">
            <a:avLst>
              <a:gd name="adj" fmla="val 28571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5" name="Text 313"/>
          <p:cNvSpPr/>
          <p:nvPr/>
        </p:nvSpPr>
        <p:spPr>
          <a:xfrm>
            <a:off x="3291840" y="4590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PRIORITIZE</a:t>
            </a:r>
            <a:endParaRPr lang="en-US" sz="900" dirty="0"/>
          </a:p>
        </p:txBody>
      </p:sp>
      <p:sp>
        <p:nvSpPr>
          <p:cNvPr id="316" name="Shape 314"/>
          <p:cNvSpPr/>
          <p:nvPr/>
        </p:nvSpPr>
        <p:spPr>
          <a:xfrm>
            <a:off x="4663440" y="4572000"/>
            <a:ext cx="1188720" cy="384048"/>
          </a:xfrm>
          <a:prstGeom prst="roundRect">
            <a:avLst>
              <a:gd name="adj" fmla="val 28571"/>
            </a:avLst>
          </a:prstGeom>
          <a:solidFill>
            <a:srgbClr val="64C864">
              <a:alpha val="12000"/>
            </a:srgbClr>
          </a:solidFill>
          <a:ln w="12700">
            <a:solidFill>
              <a:srgbClr val="64C86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7" name="Text 315"/>
          <p:cNvSpPr/>
          <p:nvPr/>
        </p:nvSpPr>
        <p:spPr>
          <a:xfrm>
            <a:off x="4663440" y="4590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C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</a:t>
            </a:r>
            <a:endParaRPr lang="en-US" sz="900" dirty="0"/>
          </a:p>
        </p:txBody>
      </p:sp>
      <p:sp>
        <p:nvSpPr>
          <p:cNvPr id="318" name="Shape 316"/>
          <p:cNvSpPr/>
          <p:nvPr/>
        </p:nvSpPr>
        <p:spPr>
          <a:xfrm>
            <a:off x="9436608" y="932688"/>
            <a:ext cx="329184" cy="329184"/>
          </a:xfrm>
          <a:prstGeom prst="ellipse">
            <a:avLst/>
          </a:prstGeom>
          <a:solidFill>
            <a:srgbClr val="ECC155">
              <a:alpha val="80000"/>
            </a:srgbClr>
          </a:solidFill>
          <a:ln w="12700">
            <a:solidFill>
              <a:srgbClr val="ECC155">
                <a:alpha val="7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98480" y="1828800"/>
            <a:ext cx="182880" cy="182880"/>
          </a:xfrm>
          <a:prstGeom prst="ellipse">
            <a:avLst/>
          </a:prstGeom>
          <a:solidFill>
            <a:srgbClr val="6B7FA3">
              <a:alpha val="45000"/>
            </a:srgbClr>
          </a:solidFill>
          <a:ln w="12700">
            <a:solidFill>
              <a:srgbClr val="6B7FA3">
                <a:alpha val="7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235440" y="2651760"/>
            <a:ext cx="182880" cy="182880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424160" y="3383280"/>
            <a:ext cx="182880" cy="182880"/>
          </a:xfrm>
          <a:prstGeom prst="ellipse">
            <a:avLst/>
          </a:prstGeom>
          <a:solidFill>
            <a:srgbClr val="6B7FA3">
              <a:alpha val="45000"/>
            </a:srgbClr>
          </a:solidFill>
          <a:ln w="12700">
            <a:solidFill>
              <a:srgbClr val="6B7FA3">
                <a:alpha val="7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8869680" y="4114800"/>
            <a:ext cx="182880" cy="182880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972800" y="1371600"/>
            <a:ext cx="182880" cy="182880"/>
          </a:xfrm>
          <a:prstGeom prst="ellipse">
            <a:avLst/>
          </a:prstGeom>
          <a:solidFill>
            <a:srgbClr val="6B7FA3">
              <a:alpha val="45000"/>
            </a:srgbClr>
          </a:solidFill>
          <a:ln w="12700">
            <a:solidFill>
              <a:srgbClr val="6B7FA3">
                <a:alpha val="7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247120" y="3566160"/>
            <a:ext cx="182880" cy="182880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601200" y="1097280"/>
            <a:ext cx="1188720" cy="82296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9601200" y="1097280"/>
            <a:ext cx="-274320" cy="164592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0789920" y="1920240"/>
            <a:ext cx="-274320" cy="155448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9326880" y="2743200"/>
            <a:ext cx="-365760" cy="146304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0789920" y="1920240"/>
            <a:ext cx="274320" cy="-45720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0515600" y="3474720"/>
            <a:ext cx="822960" cy="182880"/>
          </a:xfrm>
          <a:prstGeom prst="line">
            <a:avLst/>
          </a:prstGeom>
          <a:noFill/>
          <a:ln w="7620">
            <a:solidFill>
              <a:srgbClr val="ECC155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654194" y="4482862"/>
            <a:ext cx="67456" cy="67456"/>
          </a:xfrm>
          <a:prstGeom prst="ellipse">
            <a:avLst/>
          </a:prstGeom>
          <a:solidFill>
            <a:srgbClr val="FFA500">
              <a:alpha val="16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649246" y="2521322"/>
            <a:ext cx="58923" cy="58923"/>
          </a:xfrm>
          <a:prstGeom prst="ellipse">
            <a:avLst/>
          </a:prstGeom>
          <a:solidFill>
            <a:srgbClr val="ECC155">
              <a:alpha val="34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599193" y="633849"/>
            <a:ext cx="90249" cy="90249"/>
          </a:xfrm>
          <a:prstGeom prst="ellipse">
            <a:avLst/>
          </a:prstGeom>
          <a:solidFill>
            <a:srgbClr val="FFA500">
              <a:alpha val="3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448785" y="3720086"/>
            <a:ext cx="56909" cy="56909"/>
          </a:xfrm>
          <a:prstGeom prst="ellipse">
            <a:avLst/>
          </a:prstGeom>
          <a:solidFill>
            <a:srgbClr val="FFA500">
              <a:alpha val="33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1002529" y="5784991"/>
            <a:ext cx="85161" cy="85161"/>
          </a:xfrm>
          <a:prstGeom prst="ellipse">
            <a:avLst/>
          </a:prstGeom>
          <a:solidFill>
            <a:srgbClr val="FFA500">
              <a:alpha val="39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935524" y="806195"/>
            <a:ext cx="57131" cy="57131"/>
          </a:xfrm>
          <a:prstGeom prst="ellipse">
            <a:avLst/>
          </a:prstGeom>
          <a:solidFill>
            <a:srgbClr val="FF4B4B">
              <a:alpha val="17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1623482" y="2806464"/>
            <a:ext cx="39082" cy="39082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882440" y="4573780"/>
            <a:ext cx="45792" cy="45792"/>
          </a:xfrm>
          <a:prstGeom prst="ellipse">
            <a:avLst/>
          </a:prstGeom>
          <a:solidFill>
            <a:srgbClr val="FF4B4B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405673" y="4186028"/>
            <a:ext cx="67289" cy="67289"/>
          </a:xfrm>
          <a:prstGeom prst="ellipse">
            <a:avLst/>
          </a:prstGeom>
          <a:solidFill>
            <a:srgbClr val="FF4B4B">
              <a:alpha val="39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313200" y="4816795"/>
            <a:ext cx="89436" cy="89436"/>
          </a:xfrm>
          <a:prstGeom prst="ellipse">
            <a:avLst/>
          </a:prstGeom>
          <a:solidFill>
            <a:srgbClr val="ECC155">
              <a:alpha val="4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840475" y="2702347"/>
            <a:ext cx="66098" cy="66098"/>
          </a:xfrm>
          <a:prstGeom prst="ellipse">
            <a:avLst/>
          </a:prstGeom>
          <a:solidFill>
            <a:srgbClr val="FFA500">
              <a:alpha val="30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625652" y="4514703"/>
            <a:ext cx="70309" cy="70309"/>
          </a:xfrm>
          <a:prstGeom prst="ellipse">
            <a:avLst/>
          </a:prstGeom>
          <a:solidFill>
            <a:srgbClr val="ECC155">
              <a:alpha val="22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277" name="Shape 275"/>
          <p:cNvSpPr/>
          <p:nvPr/>
        </p:nvSpPr>
        <p:spPr>
          <a:xfrm>
            <a:off x="548640" y="65836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548640" y="6858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Teams Face
</a:t>
            </a:r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Overload</a:t>
            </a:r>
            <a:endParaRPr lang="en-US" sz="3800" dirty="0"/>
          </a:p>
        </p:txBody>
      </p:sp>
      <p:sp>
        <p:nvSpPr>
          <p:cNvPr id="279" name="Shape 277"/>
          <p:cNvSpPr/>
          <p:nvPr/>
        </p:nvSpPr>
        <p:spPr>
          <a:xfrm>
            <a:off x="502920" y="228600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0A1D35">
              <a:alpha val="18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0" name="Shape 278"/>
          <p:cNvSpPr/>
          <p:nvPr/>
        </p:nvSpPr>
        <p:spPr>
          <a:xfrm>
            <a:off x="658368" y="2432304"/>
            <a:ext cx="411480" cy="411480"/>
          </a:xfrm>
          <a:prstGeom prst="ellipse">
            <a:avLst/>
          </a:prstGeom>
          <a:solidFill>
            <a:srgbClr val="FF4B4B">
              <a:alpha val="18000"/>
            </a:srgbClr>
          </a:solidFill>
          <a:ln w="12700">
            <a:solidFill>
              <a:srgbClr val="FF4B4B">
                <a:alpha val="60000"/>
              </a:srgbClr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658368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4B4B"/>
                </a:solidFill>
              </a:rPr>
              <a:t>⊘</a:t>
            </a:r>
            <a:endParaRPr lang="en-US" sz="1400" dirty="0"/>
          </a:p>
        </p:txBody>
      </p:sp>
      <p:sp>
        <p:nvSpPr>
          <p:cNvPr id="282" name="Text 280"/>
          <p:cNvSpPr/>
          <p:nvPr/>
        </p:nvSpPr>
        <p:spPr>
          <a:xfrm>
            <a:off x="1188720" y="23408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FRAGMENTED FEEDS</a:t>
            </a:r>
            <a:endParaRPr lang="en-US" sz="900" dirty="0"/>
          </a:p>
        </p:txBody>
      </p:sp>
      <p:sp>
        <p:nvSpPr>
          <p:cNvPr id="283" name="Text 281"/>
          <p:cNvSpPr/>
          <p:nvPr/>
        </p:nvSpPr>
        <p:spPr>
          <a:xfrm>
            <a:off x="1188720" y="26151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disconnected threat sources — no unified view across CVEs, IPs, and pulses</a:t>
            </a:r>
            <a:endParaRPr lang="en-US" sz="1050" dirty="0"/>
          </a:p>
        </p:txBody>
      </p:sp>
      <p:sp>
        <p:nvSpPr>
          <p:cNvPr id="284" name="Shape 282"/>
          <p:cNvSpPr/>
          <p:nvPr/>
        </p:nvSpPr>
        <p:spPr>
          <a:xfrm>
            <a:off x="502920" y="315468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0A1D35">
              <a:alpha val="18000"/>
            </a:srgbClr>
          </a:solidFill>
          <a:ln w="12700">
            <a:solidFill>
              <a:srgbClr val="FFA500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5" name="Shape 283"/>
          <p:cNvSpPr/>
          <p:nvPr/>
        </p:nvSpPr>
        <p:spPr>
          <a:xfrm>
            <a:off x="658368" y="3300984"/>
            <a:ext cx="411480" cy="411480"/>
          </a:xfrm>
          <a:prstGeom prst="ellipse">
            <a:avLst/>
          </a:prstGeom>
          <a:solidFill>
            <a:srgbClr val="FFA500">
              <a:alpha val="18000"/>
            </a:srgbClr>
          </a:solidFill>
          <a:ln w="12700">
            <a:solidFill>
              <a:srgbClr val="FFA500">
                <a:alpha val="60000"/>
              </a:srgbClr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658368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A500"/>
                </a:solidFill>
              </a:rPr>
              <a:t>⚠</a:t>
            </a:r>
            <a:endParaRPr lang="en-US" sz="1400" dirty="0"/>
          </a:p>
        </p:txBody>
      </p:sp>
      <p:sp>
        <p:nvSpPr>
          <p:cNvPr id="287" name="Text 285"/>
          <p:cNvSpPr/>
          <p:nvPr/>
        </p:nvSpPr>
        <p:spPr>
          <a:xfrm>
            <a:off x="1188720" y="32095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FATIGUE</a:t>
            </a:r>
            <a:endParaRPr lang="en-US" sz="900" dirty="0"/>
          </a:p>
        </p:txBody>
      </p:sp>
      <p:sp>
        <p:nvSpPr>
          <p:cNvPr id="288" name="Text 286"/>
          <p:cNvSpPr/>
          <p:nvPr/>
        </p:nvSpPr>
        <p:spPr>
          <a:xfrm>
            <a:off x="1188720" y="34838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daily alerts overwhelm analyst capacity before real threats are triaged</a:t>
            </a:r>
            <a:endParaRPr lang="en-US" sz="1050" dirty="0"/>
          </a:p>
        </p:txBody>
      </p:sp>
      <p:sp>
        <p:nvSpPr>
          <p:cNvPr id="289" name="Shape 287"/>
          <p:cNvSpPr/>
          <p:nvPr/>
        </p:nvSpPr>
        <p:spPr>
          <a:xfrm>
            <a:off x="502920" y="402336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0A1D35">
              <a:alpha val="18000"/>
            </a:srgbClr>
          </a:solidFill>
          <a:ln w="12700">
            <a:solidFill>
              <a:srgbClr val="ECC155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0" name="Shape 288"/>
          <p:cNvSpPr/>
          <p:nvPr/>
        </p:nvSpPr>
        <p:spPr>
          <a:xfrm>
            <a:off x="658368" y="4169664"/>
            <a:ext cx="411480" cy="411480"/>
          </a:xfrm>
          <a:prstGeom prst="ellipse">
            <a:avLst/>
          </a:prstGeom>
          <a:solidFill>
            <a:srgbClr val="ECC155">
              <a:alpha val="18000"/>
            </a:srgbClr>
          </a:solidFill>
          <a:ln w="1270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658368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155"/>
                </a:solidFill>
              </a:rPr>
              <a:t>⏳</a:t>
            </a:r>
            <a:endParaRPr lang="en-US" sz="1400" dirty="0"/>
          </a:p>
        </p:txBody>
      </p:sp>
      <p:sp>
        <p:nvSpPr>
          <p:cNvPr id="292" name="Text 290"/>
          <p:cNvSpPr/>
          <p:nvPr/>
        </p:nvSpPr>
        <p:spPr>
          <a:xfrm>
            <a:off x="1188720" y="4078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RESPONSE</a:t>
            </a:r>
            <a:endParaRPr lang="en-US" sz="900" dirty="0"/>
          </a:p>
        </p:txBody>
      </p:sp>
      <p:sp>
        <p:nvSpPr>
          <p:cNvPr id="293" name="Text 291"/>
          <p:cNvSpPr/>
          <p:nvPr/>
        </p:nvSpPr>
        <p:spPr>
          <a:xfrm>
            <a:off x="1188720" y="43525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 delays containment — attackers move in minutes, not hours</a:t>
            </a:r>
            <a:endParaRPr lang="en-US" sz="1050" dirty="0"/>
          </a:p>
        </p:txBody>
      </p:sp>
      <p:sp>
        <p:nvSpPr>
          <p:cNvPr id="294" name="Shape 292"/>
          <p:cNvSpPr/>
          <p:nvPr/>
        </p:nvSpPr>
        <p:spPr>
          <a:xfrm>
            <a:off x="502920" y="489204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0A1D35">
              <a:alpha val="18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5" name="Shape 293"/>
          <p:cNvSpPr/>
          <p:nvPr/>
        </p:nvSpPr>
        <p:spPr>
          <a:xfrm>
            <a:off x="658368" y="5038344"/>
            <a:ext cx="411480" cy="411480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658368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?</a:t>
            </a:r>
            <a:endParaRPr lang="en-US" sz="1400" dirty="0"/>
          </a:p>
        </p:txBody>
      </p:sp>
      <p:sp>
        <p:nvSpPr>
          <p:cNvPr id="297" name="Text 295"/>
          <p:cNvSpPr/>
          <p:nvPr/>
        </p:nvSpPr>
        <p:spPr>
          <a:xfrm>
            <a:off x="1188720" y="4946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CONTEXT</a:t>
            </a:r>
            <a:endParaRPr lang="en-US" sz="900" dirty="0"/>
          </a:p>
        </p:txBody>
      </p:sp>
      <p:sp>
        <p:nvSpPr>
          <p:cNvPr id="298" name="Text 296"/>
          <p:cNvSpPr/>
          <p:nvPr/>
        </p:nvSpPr>
        <p:spPr>
          <a:xfrm>
            <a:off x="1188720" y="52212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published at 9am exploited on your machine by 10am — zero correlation</a:t>
            </a:r>
            <a:endParaRPr lang="en-US" sz="1050" dirty="0"/>
          </a:p>
        </p:txBody>
      </p:sp>
      <p:sp>
        <p:nvSpPr>
          <p:cNvPr id="299" name="Shape 297"/>
          <p:cNvSpPr/>
          <p:nvPr/>
        </p:nvSpPr>
        <p:spPr>
          <a:xfrm>
            <a:off x="6217920" y="502920"/>
            <a:ext cx="5669280" cy="6035040"/>
          </a:xfrm>
          <a:prstGeom prst="roundRect">
            <a:avLst>
              <a:gd name="adj" fmla="val 1935"/>
            </a:avLst>
          </a:prstGeom>
          <a:solidFill>
            <a:srgbClr val="0A1D35">
              <a:alpha val="15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Shape 298"/>
          <p:cNvSpPr/>
          <p:nvPr/>
        </p:nvSpPr>
        <p:spPr>
          <a:xfrm>
            <a:off x="8229600" y="2560320"/>
            <a:ext cx="1005840" cy="1005840"/>
          </a:xfrm>
          <a:prstGeom prst="ellipse">
            <a:avLst/>
          </a:prstGeom>
          <a:solidFill>
            <a:srgbClr val="FF4B4B">
              <a:alpha val="30000"/>
            </a:srgbClr>
          </a:solidFill>
          <a:ln w="25400">
            <a:solidFill>
              <a:srgbClr val="FF4B4B">
                <a:alpha val="8000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822960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4B4B"/>
                </a:solidFill>
              </a:rPr>
              <a:t>⚠</a:t>
            </a:r>
            <a:endParaRPr lang="en-US" sz="3000" dirty="0"/>
          </a:p>
        </p:txBody>
      </p:sp>
      <p:sp>
        <p:nvSpPr>
          <p:cNvPr id="302" name="Shape 300"/>
          <p:cNvSpPr/>
          <p:nvPr/>
        </p:nvSpPr>
        <p:spPr>
          <a:xfrm>
            <a:off x="6583680" y="914400"/>
            <a:ext cx="1284732" cy="274320"/>
          </a:xfrm>
          <a:prstGeom prst="roundRect">
            <a:avLst>
              <a:gd name="adj" fmla="val 20000"/>
            </a:avLst>
          </a:prstGeom>
          <a:solidFill>
            <a:srgbClr val="FF4B4B">
              <a:alpha val="12000"/>
            </a:srgbClr>
          </a:solidFill>
          <a:ln w="1016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6583680" y="914400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CVE-2024-3400</a:t>
            </a:r>
            <a:endParaRPr lang="en-US" sz="750" dirty="0"/>
          </a:p>
        </p:txBody>
      </p:sp>
      <p:sp>
        <p:nvSpPr>
          <p:cNvPr id="304" name="Shape 302"/>
          <p:cNvSpPr/>
          <p:nvPr/>
        </p:nvSpPr>
        <p:spPr>
          <a:xfrm>
            <a:off x="7226046" y="1051560"/>
            <a:ext cx="1506474" cy="2148840"/>
          </a:xfrm>
          <a:prstGeom prst="line">
            <a:avLst/>
          </a:prstGeom>
          <a:noFill/>
          <a:ln w="6350">
            <a:solidFill>
              <a:srgbClr val="FF4B4B">
                <a:alpha val="25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961120" y="1097280"/>
            <a:ext cx="1362456" cy="274320"/>
          </a:xfrm>
          <a:prstGeom prst="roundRect">
            <a:avLst>
              <a:gd name="adj" fmla="val 20000"/>
            </a:avLst>
          </a:prstGeom>
          <a:solidFill>
            <a:srgbClr val="FFA500">
              <a:alpha val="12000"/>
            </a:srgbClr>
          </a:solidFill>
          <a:ln w="1016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8961120" y="109728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ALERT</a:t>
            </a:r>
            <a:endParaRPr lang="en-US" sz="750" dirty="0"/>
          </a:p>
        </p:txBody>
      </p:sp>
      <p:sp>
        <p:nvSpPr>
          <p:cNvPr id="307" name="Shape 305"/>
          <p:cNvSpPr/>
          <p:nvPr/>
        </p:nvSpPr>
        <p:spPr>
          <a:xfrm>
            <a:off x="9642348" y="1234440"/>
            <a:ext cx="-909828" cy="1965960"/>
          </a:xfrm>
          <a:prstGeom prst="line">
            <a:avLst/>
          </a:prstGeom>
          <a:noFill/>
          <a:ln w="6350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400800" y="2560320"/>
            <a:ext cx="1440180" cy="274320"/>
          </a:xfrm>
          <a:prstGeom prst="roundRect">
            <a:avLst>
              <a:gd name="adj" fmla="val 20000"/>
            </a:avLst>
          </a:prstGeom>
          <a:solidFill>
            <a:srgbClr val="ECC155">
              <a:alpha val="12000"/>
            </a:srgbClr>
          </a:solidFill>
          <a:ln w="10160">
            <a:solidFill>
              <a:srgbClr val="ECC155">
                <a:alpha val="45000"/>
              </a:srgbClr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6400800" y="256032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 DETECTED</a:t>
            </a:r>
            <a:endParaRPr lang="en-US" sz="750" dirty="0"/>
          </a:p>
        </p:txBody>
      </p:sp>
      <p:sp>
        <p:nvSpPr>
          <p:cNvPr id="310" name="Shape 308"/>
          <p:cNvSpPr/>
          <p:nvPr/>
        </p:nvSpPr>
        <p:spPr>
          <a:xfrm>
            <a:off x="7120890" y="2697480"/>
            <a:ext cx="1611630" cy="502920"/>
          </a:xfrm>
          <a:prstGeom prst="line">
            <a:avLst/>
          </a:prstGeom>
          <a:noFill/>
          <a:ln w="6350">
            <a:solidFill>
              <a:srgbClr val="ECC155">
                <a:alpha val="25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509760" y="2377440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2000"/>
            </a:srgbClr>
          </a:solidFill>
          <a:ln w="1016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9509760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 IP</a:t>
            </a:r>
            <a:endParaRPr lang="en-US" sz="750" dirty="0"/>
          </a:p>
        </p:txBody>
      </p:sp>
      <p:sp>
        <p:nvSpPr>
          <p:cNvPr id="313" name="Shape 311"/>
          <p:cNvSpPr/>
          <p:nvPr/>
        </p:nvSpPr>
        <p:spPr>
          <a:xfrm>
            <a:off x="10113264" y="2514600"/>
            <a:ext cx="-1380744" cy="685800"/>
          </a:xfrm>
          <a:prstGeom prst="line">
            <a:avLst/>
          </a:prstGeom>
          <a:noFill/>
          <a:ln w="635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766560" y="41148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4B4B">
              <a:alpha val="12000"/>
            </a:srgbClr>
          </a:solidFill>
          <a:ln w="1016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6766560" y="4114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RANSOMWARE</a:t>
            </a:r>
            <a:endParaRPr lang="en-US" sz="750" dirty="0"/>
          </a:p>
        </p:txBody>
      </p:sp>
      <p:sp>
        <p:nvSpPr>
          <p:cNvPr id="316" name="Shape 314"/>
          <p:cNvSpPr/>
          <p:nvPr/>
        </p:nvSpPr>
        <p:spPr>
          <a:xfrm>
            <a:off x="7292340" y="4251960"/>
            <a:ext cx="1440180" cy="-1051560"/>
          </a:xfrm>
          <a:prstGeom prst="line">
            <a:avLst/>
          </a:prstGeom>
          <a:noFill/>
          <a:ln w="6350">
            <a:solidFill>
              <a:srgbClr val="FF4B4B">
                <a:alpha val="25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235440" y="3931920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A78BFA">
              <a:alpha val="12000"/>
            </a:srgbClr>
          </a:solidFill>
          <a:ln w="1016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235440" y="3931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LATERAL MOVE</a:t>
            </a:r>
            <a:endParaRPr lang="en-US" sz="750" dirty="0"/>
          </a:p>
        </p:txBody>
      </p:sp>
      <p:sp>
        <p:nvSpPr>
          <p:cNvPr id="319" name="Shape 317"/>
          <p:cNvSpPr/>
          <p:nvPr/>
        </p:nvSpPr>
        <p:spPr>
          <a:xfrm>
            <a:off x="9838944" y="4069080"/>
            <a:ext cx="-1106424" cy="-868680"/>
          </a:xfrm>
          <a:prstGeom prst="line">
            <a:avLst/>
          </a:prstGeom>
          <a:noFill/>
          <a:ln w="635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8412480" y="8229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A500">
              <a:alpha val="12000"/>
            </a:srgbClr>
          </a:solidFill>
          <a:ln w="1016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8412480" y="822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EXFIL</a:t>
            </a:r>
            <a:endParaRPr lang="en-US" sz="750" dirty="0"/>
          </a:p>
        </p:txBody>
      </p:sp>
      <p:sp>
        <p:nvSpPr>
          <p:cNvPr id="322" name="Shape 320"/>
          <p:cNvSpPr/>
          <p:nvPr/>
        </p:nvSpPr>
        <p:spPr>
          <a:xfrm>
            <a:off x="8938260" y="960120"/>
            <a:ext cx="-205740" cy="2240280"/>
          </a:xfrm>
          <a:prstGeom prst="line">
            <a:avLst/>
          </a:prstGeom>
          <a:noFill/>
          <a:ln w="6350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498080" y="4754880"/>
            <a:ext cx="1284732" cy="274320"/>
          </a:xfrm>
          <a:prstGeom prst="roundRect">
            <a:avLst>
              <a:gd name="adj" fmla="val 20000"/>
            </a:avLst>
          </a:prstGeom>
          <a:solidFill>
            <a:srgbClr val="FF4B4B">
              <a:alpha val="12000"/>
            </a:srgbClr>
          </a:solidFill>
          <a:ln w="1016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7498080" y="4754880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0-DAY EXPLOIT</a:t>
            </a:r>
            <a:endParaRPr lang="en-US" sz="750" dirty="0"/>
          </a:p>
        </p:txBody>
      </p:sp>
      <p:sp>
        <p:nvSpPr>
          <p:cNvPr id="325" name="Shape 323"/>
          <p:cNvSpPr/>
          <p:nvPr/>
        </p:nvSpPr>
        <p:spPr>
          <a:xfrm>
            <a:off x="8140446" y="4892040"/>
            <a:ext cx="592074" cy="-1691640"/>
          </a:xfrm>
          <a:prstGeom prst="line">
            <a:avLst/>
          </a:prstGeom>
          <a:noFill/>
          <a:ln w="6350">
            <a:solidFill>
              <a:srgbClr val="FF4B4B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209449" y="2798699"/>
            <a:ext cx="57435" cy="57435"/>
          </a:xfrm>
          <a:prstGeom prst="ellipse">
            <a:avLst/>
          </a:prstGeom>
          <a:solidFill>
            <a:srgbClr val="64C864">
              <a:alpha val="19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881577" y="392751"/>
            <a:ext cx="54353" cy="54353"/>
          </a:xfrm>
          <a:prstGeom prst="ellipse">
            <a:avLst/>
          </a:prstGeom>
          <a:solidFill>
            <a:srgbClr val="ECC155">
              <a:alpha val="4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117210" y="6155044"/>
            <a:ext cx="31080" cy="31080"/>
          </a:xfrm>
          <a:prstGeom prst="ellipse">
            <a:avLst/>
          </a:prstGeom>
          <a:solidFill>
            <a:srgbClr val="00D4FF">
              <a:alpha val="34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185346" y="205702"/>
            <a:ext cx="29520" cy="29520"/>
          </a:xfrm>
          <a:prstGeom prst="ellipse">
            <a:avLst/>
          </a:prstGeom>
          <a:solidFill>
            <a:srgbClr val="64C864">
              <a:alpha val="38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961543" y="3871614"/>
            <a:ext cx="27509" cy="27509"/>
          </a:xfrm>
          <a:prstGeom prst="ellipse">
            <a:avLst/>
          </a:prstGeom>
          <a:solidFill>
            <a:srgbClr val="ECC155">
              <a:alpha val="1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238999" y="347089"/>
            <a:ext cx="68442" cy="68442"/>
          </a:xfrm>
          <a:prstGeom prst="ellipse">
            <a:avLst/>
          </a:prstGeom>
          <a:solidFill>
            <a:srgbClr val="ECC155">
              <a:alpha val="4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799425" y="208949"/>
            <a:ext cx="89469" cy="89469"/>
          </a:xfrm>
          <a:prstGeom prst="ellipse">
            <a:avLst/>
          </a:prstGeom>
          <a:solidFill>
            <a:srgbClr val="64C864">
              <a:alpha val="33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164300" y="207461"/>
            <a:ext cx="54264" cy="54264"/>
          </a:xfrm>
          <a:prstGeom prst="ellipse">
            <a:avLst/>
          </a:prstGeom>
          <a:solidFill>
            <a:srgbClr val="ECC155">
              <a:alpha val="36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847330" y="3408434"/>
            <a:ext cx="69578" cy="69578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546032" y="2907580"/>
            <a:ext cx="78773" cy="78773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71784" y="378983"/>
            <a:ext cx="81345" cy="81345"/>
          </a:xfrm>
          <a:prstGeom prst="ellipse">
            <a:avLst/>
          </a:prstGeom>
          <a:solidFill>
            <a:srgbClr val="64C864">
              <a:alpha val="45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852982" y="2252670"/>
            <a:ext cx="68668" cy="68668"/>
          </a:xfrm>
          <a:prstGeom prst="ellipse">
            <a:avLst/>
          </a:prstGeom>
          <a:solidFill>
            <a:srgbClr val="64C864">
              <a:alpha val="37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180923" y="4073747"/>
            <a:ext cx="32029" cy="32029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6366399" y="3861130"/>
            <a:ext cx="77072" cy="77072"/>
          </a:xfrm>
          <a:prstGeom prst="ellipse">
            <a:avLst/>
          </a:prstGeom>
          <a:solidFill>
            <a:srgbClr val="64C864">
              <a:alpha val="17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45857" y="2835824"/>
            <a:ext cx="66887" cy="66887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876749" y="964052"/>
            <a:ext cx="67418" cy="67418"/>
          </a:xfrm>
          <a:prstGeom prst="ellipse">
            <a:avLst/>
          </a:prstGeom>
          <a:solidFill>
            <a:srgbClr val="ECC155">
              <a:alpha val="16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659064" y="3758170"/>
            <a:ext cx="64600" cy="64600"/>
          </a:xfrm>
          <a:prstGeom prst="ellipse">
            <a:avLst/>
          </a:prstGeom>
          <a:solidFill>
            <a:srgbClr val="00D4FF">
              <a:alpha val="23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888788" y="3076556"/>
            <a:ext cx="75844" cy="75844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548640" y="65836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45720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AI Brain. </a:t>
            </a:r>
            <a:pPr algn="ctr" indent="0" marL="0">
              <a:buNone/>
            </a:pPr>
            <a:r>
              <a:rPr lang="en-US" sz="46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Defense.</a:t>
            </a:r>
            <a:endParaRPr lang="en-US" sz="4600" dirty="0"/>
          </a:p>
        </p:txBody>
      </p:sp>
      <p:sp>
        <p:nvSpPr>
          <p:cNvPr id="285" name="Shape 283"/>
          <p:cNvSpPr/>
          <p:nvPr/>
        </p:nvSpPr>
        <p:spPr>
          <a:xfrm>
            <a:off x="457200" y="182880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0A1D35">
              <a:alpha val="28000"/>
            </a:srgbClr>
          </a:solidFill>
          <a:ln w="1524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6" name="Shape 284"/>
          <p:cNvSpPr/>
          <p:nvPr/>
        </p:nvSpPr>
        <p:spPr>
          <a:xfrm>
            <a:off x="457200" y="1828800"/>
            <a:ext cx="54864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4480560" y="1874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D4FF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800" dirty="0"/>
          </a:p>
        </p:txBody>
      </p:sp>
      <p:sp>
        <p:nvSpPr>
          <p:cNvPr id="288" name="Shape 286"/>
          <p:cNvSpPr/>
          <p:nvPr/>
        </p:nvSpPr>
        <p:spPr>
          <a:xfrm>
            <a:off x="640080" y="2057400"/>
            <a:ext cx="566928" cy="566928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400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90" name="Text 288"/>
          <p:cNvSpPr/>
          <p:nvPr/>
        </p:nvSpPr>
        <p:spPr>
          <a:xfrm>
            <a:off x="1325880" y="20848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Threat Monitoring</a:t>
            </a:r>
            <a:endParaRPr lang="en-US" sz="1400" dirty="0"/>
          </a:p>
        </p:txBody>
      </p:sp>
      <p:sp>
        <p:nvSpPr>
          <p:cNvPr id="291" name="Text 289"/>
          <p:cNvSpPr/>
          <p:nvPr/>
        </p:nvSpPr>
        <p:spPr>
          <a:xfrm>
            <a:off x="640080" y="265176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CVEs, OTX pulses, AbuseIPDB malicious IPs — ingested every 15 minutes. Never miss a published vulnerability.</a:t>
            </a:r>
            <a:endParaRPr lang="en-US" sz="1150" dirty="0"/>
          </a:p>
        </p:txBody>
      </p:sp>
      <p:sp>
        <p:nvSpPr>
          <p:cNvPr id="292" name="Shape 290"/>
          <p:cNvSpPr/>
          <p:nvPr/>
        </p:nvSpPr>
        <p:spPr>
          <a:xfrm>
            <a:off x="6126480" y="182880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0A1D35">
              <a:alpha val="28000"/>
            </a:srgbClr>
          </a:solidFill>
          <a:ln w="15240">
            <a:solidFill>
              <a:srgbClr val="ECC155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3" name="Shape 291"/>
          <p:cNvSpPr/>
          <p:nvPr/>
        </p:nvSpPr>
        <p:spPr>
          <a:xfrm>
            <a:off x="6126480" y="1828800"/>
            <a:ext cx="5486400" cy="64008"/>
          </a:xfrm>
          <a:prstGeom prst="rect">
            <a:avLst/>
          </a:prstGeom>
          <a:solidFill>
            <a:srgbClr val="ECC155"/>
          </a:solidFill>
          <a:ln w="12700">
            <a:solidFill>
              <a:srgbClr val="ECC155">
                <a:alpha val="0"/>
              </a:srgbClr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10149840" y="1874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CC155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800" dirty="0"/>
          </a:p>
        </p:txBody>
      </p:sp>
      <p:sp>
        <p:nvSpPr>
          <p:cNvPr id="295" name="Shape 293"/>
          <p:cNvSpPr/>
          <p:nvPr/>
        </p:nvSpPr>
        <p:spPr>
          <a:xfrm>
            <a:off x="6309360" y="2057400"/>
            <a:ext cx="566928" cy="566928"/>
          </a:xfrm>
          <a:prstGeom prst="ellipse">
            <a:avLst/>
          </a:prstGeom>
          <a:solidFill>
            <a:srgbClr val="ECC155">
              <a:alpha val="18000"/>
            </a:srgbClr>
          </a:solidFill>
          <a:ln w="1270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63093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97" name="Text 295"/>
          <p:cNvSpPr/>
          <p:nvPr/>
        </p:nvSpPr>
        <p:spPr>
          <a:xfrm>
            <a:off x="6995160" y="20848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Attack Detection</a:t>
            </a:r>
            <a:endParaRPr lang="en-US" sz="1400" dirty="0"/>
          </a:p>
        </p:txBody>
      </p:sp>
      <p:sp>
        <p:nvSpPr>
          <p:cNvPr id="298" name="Text 296"/>
          <p:cNvSpPr/>
          <p:nvPr/>
        </p:nvSpPr>
        <p:spPr>
          <a:xfrm>
            <a:off x="6309360" y="265176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process, network, and filesystem monitoring. Ransomware patterns and lateral movement flagged in real time.</a:t>
            </a:r>
            <a:endParaRPr lang="en-US" sz="1150" dirty="0"/>
          </a:p>
        </p:txBody>
      </p:sp>
      <p:sp>
        <p:nvSpPr>
          <p:cNvPr id="299" name="Shape 297"/>
          <p:cNvSpPr/>
          <p:nvPr/>
        </p:nvSpPr>
        <p:spPr>
          <a:xfrm>
            <a:off x="457200" y="42062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0A1D35">
              <a:alpha val="28000"/>
            </a:srgbClr>
          </a:solidFill>
          <a:ln w="15240">
            <a:solidFill>
              <a:srgbClr val="FF4B4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Shape 298"/>
          <p:cNvSpPr/>
          <p:nvPr/>
        </p:nvSpPr>
        <p:spPr>
          <a:xfrm>
            <a:off x="457200" y="4206240"/>
            <a:ext cx="5486400" cy="640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4480560" y="4251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4B4B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800" dirty="0"/>
          </a:p>
        </p:txBody>
      </p:sp>
      <p:sp>
        <p:nvSpPr>
          <p:cNvPr id="302" name="Shape 300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FF4B4B">
              <a:alpha val="18000"/>
            </a:srgbClr>
          </a:solidFill>
          <a:ln w="12700">
            <a:solidFill>
              <a:srgbClr val="FF4B4B">
                <a:alpha val="60000"/>
              </a:srgbClr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64008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04" name="Text 302"/>
          <p:cNvSpPr/>
          <p:nvPr/>
        </p:nvSpPr>
        <p:spPr>
          <a:xfrm>
            <a:off x="1325880" y="44622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Correlation Engine</a:t>
            </a:r>
            <a:endParaRPr lang="en-US" sz="1400" dirty="0"/>
          </a:p>
        </p:txBody>
      </p:sp>
      <p:sp>
        <p:nvSpPr>
          <p:cNvPr id="305" name="Text 303"/>
          <p:cNvSpPr/>
          <p:nvPr/>
        </p:nvSpPr>
        <p:spPr>
          <a:xfrm>
            <a:off x="640080" y="50292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multi-agent pipeline: Hunter → Correlator → Context → Analyst. Links CVEs to live endpoint behaviour in milliseconds.</a:t>
            </a:r>
            <a:endParaRPr lang="en-US" sz="1150" dirty="0"/>
          </a:p>
        </p:txBody>
      </p:sp>
      <p:sp>
        <p:nvSpPr>
          <p:cNvPr id="306" name="Shape 304"/>
          <p:cNvSpPr/>
          <p:nvPr/>
        </p:nvSpPr>
        <p:spPr>
          <a:xfrm>
            <a:off x="6126480" y="42062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0A1D35">
              <a:alpha val="28000"/>
            </a:srgbClr>
          </a:solidFill>
          <a:ln w="15240">
            <a:solidFill>
              <a:srgbClr val="64C864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7" name="Shape 305"/>
          <p:cNvSpPr/>
          <p:nvPr/>
        </p:nvSpPr>
        <p:spPr>
          <a:xfrm>
            <a:off x="6126480" y="4206240"/>
            <a:ext cx="5486400" cy="64008"/>
          </a:xfrm>
          <a:prstGeom prst="rect">
            <a:avLst/>
          </a:prstGeom>
          <a:solidFill>
            <a:srgbClr val="64C864"/>
          </a:solidFill>
          <a:ln w="12700">
            <a:solidFill>
              <a:srgbClr val="64C864">
                <a:alpha val="0"/>
              </a:srgbClr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10149840" y="4251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64C864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800" dirty="0"/>
          </a:p>
        </p:txBody>
      </p:sp>
      <p:sp>
        <p:nvSpPr>
          <p:cNvPr id="309" name="Shape 307"/>
          <p:cNvSpPr/>
          <p:nvPr/>
        </p:nvSpPr>
        <p:spPr>
          <a:xfrm>
            <a:off x="6309360" y="4434840"/>
            <a:ext cx="566928" cy="566928"/>
          </a:xfrm>
          <a:prstGeom prst="ellipse">
            <a:avLst/>
          </a:prstGeom>
          <a:solidFill>
            <a:srgbClr val="64C864">
              <a:alpha val="18000"/>
            </a:srgbClr>
          </a:solidFill>
          <a:ln w="12700">
            <a:solidFill>
              <a:srgbClr val="64C864">
                <a:alpha val="60000"/>
              </a:srgbClr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3093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11" name="Text 309"/>
          <p:cNvSpPr/>
          <p:nvPr/>
        </p:nvSpPr>
        <p:spPr>
          <a:xfrm>
            <a:off x="6995160" y="44622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Prioritization</a:t>
            </a:r>
            <a:endParaRPr lang="en-US" sz="1400" dirty="0"/>
          </a:p>
        </p:txBody>
      </p:sp>
      <p:sp>
        <p:nvSpPr>
          <p:cNvPr id="312" name="Text 310"/>
          <p:cNvSpPr/>
          <p:nvPr/>
        </p:nvSpPr>
        <p:spPr>
          <a:xfrm>
            <a:off x="6309360" y="50292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ThreatLens Risk Score combining CVSS + EPSS + asset match + recency. One number. Clear action.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895686" y="1993107"/>
            <a:ext cx="28251" cy="28251"/>
          </a:xfrm>
          <a:prstGeom prst="ellipse">
            <a:avLst/>
          </a:prstGeom>
          <a:solidFill>
            <a:srgbClr val="ECC155">
              <a:alpha val="3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560175" y="3521417"/>
            <a:ext cx="64939" cy="64939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35782" y="3967838"/>
            <a:ext cx="44554" cy="44554"/>
          </a:xfrm>
          <a:prstGeom prst="ellipse">
            <a:avLst/>
          </a:prstGeom>
          <a:solidFill>
            <a:srgbClr val="ECC155">
              <a:alpha val="27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470414" y="1789788"/>
            <a:ext cx="44771" cy="44771"/>
          </a:xfrm>
          <a:prstGeom prst="ellipse">
            <a:avLst/>
          </a:prstGeom>
          <a:solidFill>
            <a:srgbClr val="00D4FF">
              <a:alpha val="37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866182" y="1242261"/>
            <a:ext cx="40639" cy="40639"/>
          </a:xfrm>
          <a:prstGeom prst="ellipse">
            <a:avLst/>
          </a:prstGeom>
          <a:solidFill>
            <a:srgbClr val="00D4FF">
              <a:alpha val="3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570607" y="5578402"/>
            <a:ext cx="76150" cy="76150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971987" y="2149263"/>
            <a:ext cx="65070" cy="65070"/>
          </a:xfrm>
          <a:prstGeom prst="ellipse">
            <a:avLst/>
          </a:prstGeom>
          <a:solidFill>
            <a:srgbClr val="00D4FF">
              <a:alpha val="23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788229" y="857921"/>
            <a:ext cx="52237" cy="52237"/>
          </a:xfrm>
          <a:prstGeom prst="ellipse">
            <a:avLst/>
          </a:prstGeom>
          <a:solidFill>
            <a:srgbClr val="00D4FF">
              <a:alpha val="3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180535" y="5737089"/>
            <a:ext cx="37618" cy="37618"/>
          </a:xfrm>
          <a:prstGeom prst="ellipse">
            <a:avLst/>
          </a:prstGeom>
          <a:solidFill>
            <a:srgbClr val="00D4FF">
              <a:alpha val="4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1509960" y="4611954"/>
            <a:ext cx="38192" cy="38192"/>
          </a:xfrm>
          <a:prstGeom prst="ellipse">
            <a:avLst/>
          </a:prstGeom>
          <a:solidFill>
            <a:srgbClr val="00D4FF">
              <a:alpha val="3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418398" y="3988571"/>
            <a:ext cx="64237" cy="64237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176453" y="1867637"/>
            <a:ext cx="83970" cy="83970"/>
          </a:xfrm>
          <a:prstGeom prst="ellipse">
            <a:avLst/>
          </a:prstGeom>
          <a:solidFill>
            <a:srgbClr val="ECC155">
              <a:alpha val="4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643581" y="2015370"/>
            <a:ext cx="75777" cy="75777"/>
          </a:xfrm>
          <a:prstGeom prst="ellipse">
            <a:avLst/>
          </a:prstGeom>
          <a:solidFill>
            <a:srgbClr val="ECC155">
              <a:alpha val="3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71225" y="4355565"/>
            <a:ext cx="34583" cy="34583"/>
          </a:xfrm>
          <a:prstGeom prst="ellipse">
            <a:avLst/>
          </a:prstGeom>
          <a:solidFill>
            <a:srgbClr val="ECC155">
              <a:alpha val="3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6949883" y="3618522"/>
            <a:ext cx="31944" cy="31944"/>
          </a:xfrm>
          <a:prstGeom prst="ellipse">
            <a:avLst/>
          </a:prstGeom>
          <a:solidFill>
            <a:srgbClr val="ECC155">
              <a:alpha val="3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80" name="Shape 278"/>
          <p:cNvSpPr/>
          <p:nvPr/>
        </p:nvSpPr>
        <p:spPr>
          <a:xfrm>
            <a:off x="548640" y="61264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Architecture</a:t>
            </a:r>
            <a:endParaRPr lang="en-US" sz="4200" dirty="0"/>
          </a:p>
        </p:txBody>
      </p:sp>
      <p:sp>
        <p:nvSpPr>
          <p:cNvPr id="282" name="Text 280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threat data to prioritized analyst action in one unified pipeline</a:t>
            </a:r>
            <a:endParaRPr lang="en-US" sz="1300" dirty="0"/>
          </a:p>
        </p:txBody>
      </p:sp>
      <p:sp>
        <p:nvSpPr>
          <p:cNvPr id="283" name="Shape 281"/>
          <p:cNvSpPr/>
          <p:nvPr/>
        </p:nvSpPr>
        <p:spPr>
          <a:xfrm>
            <a:off x="320040" y="18745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320040" y="1874520"/>
            <a:ext cx="19202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32004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750" dirty="0"/>
          </a:p>
        </p:txBody>
      </p:sp>
      <p:sp>
        <p:nvSpPr>
          <p:cNvPr id="286" name="Text 284"/>
          <p:cNvSpPr/>
          <p:nvPr/>
        </p:nvSpPr>
        <p:spPr>
          <a:xfrm>
            <a:off x="320040" y="23042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7" name="Text 285"/>
          <p:cNvSpPr/>
          <p:nvPr/>
        </p:nvSpPr>
        <p:spPr>
          <a:xfrm>
            <a:off x="393192" y="2971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Feeds</a:t>
            </a:r>
            <a:endParaRPr lang="en-US" sz="1250" dirty="0"/>
          </a:p>
        </p:txBody>
      </p:sp>
      <p:sp>
        <p:nvSpPr>
          <p:cNvPr id="288" name="Text 286"/>
          <p:cNvSpPr/>
          <p:nvPr/>
        </p:nvSpPr>
        <p:spPr>
          <a:xfrm>
            <a:off x="393192" y="34930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OTX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· RSS</a:t>
            </a:r>
            <a:endParaRPr lang="en-US" sz="1000" dirty="0"/>
          </a:p>
        </p:txBody>
      </p:sp>
      <p:sp>
        <p:nvSpPr>
          <p:cNvPr id="289" name="Shape 287"/>
          <p:cNvSpPr/>
          <p:nvPr/>
        </p:nvSpPr>
        <p:spPr>
          <a:xfrm>
            <a:off x="2286000" y="3200400"/>
            <a:ext cx="210312" cy="0"/>
          </a:xfrm>
          <a:prstGeom prst="line">
            <a:avLst/>
          </a:prstGeom>
          <a:noFill/>
          <a:ln w="1905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2395728" y="3063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C155"/>
                </a:solidFill>
              </a:rPr>
              <a:t>▶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2560320" y="18745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ECC155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2" name="Shape 290"/>
          <p:cNvSpPr/>
          <p:nvPr/>
        </p:nvSpPr>
        <p:spPr>
          <a:xfrm>
            <a:off x="2560320" y="1874520"/>
            <a:ext cx="1920240" cy="54864"/>
          </a:xfrm>
          <a:prstGeom prst="rect">
            <a:avLst/>
          </a:prstGeom>
          <a:solidFill>
            <a:srgbClr val="ECC155"/>
          </a:solidFill>
          <a:ln w="12700">
            <a:solidFill>
              <a:srgbClr val="ECC155">
                <a:alpha val="0"/>
              </a:srgbClr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256032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750" dirty="0"/>
          </a:p>
        </p:txBody>
      </p:sp>
      <p:sp>
        <p:nvSpPr>
          <p:cNvPr id="294" name="Text 292"/>
          <p:cNvSpPr/>
          <p:nvPr/>
        </p:nvSpPr>
        <p:spPr>
          <a:xfrm>
            <a:off x="2560320" y="23042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95" name="Text 293"/>
          <p:cNvSpPr/>
          <p:nvPr/>
        </p:nvSpPr>
        <p:spPr>
          <a:xfrm>
            <a:off x="2633472" y="2971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Processing</a:t>
            </a:r>
            <a:endParaRPr lang="en-US" sz="1250" dirty="0"/>
          </a:p>
        </p:txBody>
      </p:sp>
      <p:sp>
        <p:nvSpPr>
          <p:cNvPr id="296" name="Text 294"/>
          <p:cNvSpPr/>
          <p:nvPr/>
        </p:nvSpPr>
        <p:spPr>
          <a:xfrm>
            <a:off x="2633472" y="34930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· Correlator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Analyst</a:t>
            </a:r>
            <a:endParaRPr lang="en-US" sz="1000" dirty="0"/>
          </a:p>
        </p:txBody>
      </p:sp>
      <p:sp>
        <p:nvSpPr>
          <p:cNvPr id="297" name="Shape 295"/>
          <p:cNvSpPr/>
          <p:nvPr/>
        </p:nvSpPr>
        <p:spPr>
          <a:xfrm>
            <a:off x="4526280" y="3200400"/>
            <a:ext cx="210312" cy="0"/>
          </a:xfrm>
          <a:prstGeom prst="line">
            <a:avLst/>
          </a:prstGeom>
          <a:noFill/>
          <a:ln w="1905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4636008" y="3063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C155"/>
                </a:solidFill>
              </a:rPr>
              <a:t>▶</a:t>
            </a:r>
            <a:endParaRPr lang="en-US" sz="1100" dirty="0"/>
          </a:p>
        </p:txBody>
      </p:sp>
      <p:sp>
        <p:nvSpPr>
          <p:cNvPr id="299" name="Shape 297"/>
          <p:cNvSpPr/>
          <p:nvPr/>
        </p:nvSpPr>
        <p:spPr>
          <a:xfrm>
            <a:off x="4800600" y="18745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Shape 298"/>
          <p:cNvSpPr/>
          <p:nvPr/>
        </p:nvSpPr>
        <p:spPr>
          <a:xfrm>
            <a:off x="4800600" y="1874520"/>
            <a:ext cx="1920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480060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750" dirty="0"/>
          </a:p>
        </p:txBody>
      </p:sp>
      <p:sp>
        <p:nvSpPr>
          <p:cNvPr id="302" name="Text 300"/>
          <p:cNvSpPr/>
          <p:nvPr/>
        </p:nvSpPr>
        <p:spPr>
          <a:xfrm>
            <a:off x="4800600" y="23042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303" name="Text 301"/>
          <p:cNvSpPr/>
          <p:nvPr/>
        </p:nvSpPr>
        <p:spPr>
          <a:xfrm>
            <a:off x="4873752" y="2971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Correlation</a:t>
            </a:r>
            <a:endParaRPr lang="en-US" sz="1250" dirty="0"/>
          </a:p>
        </p:txBody>
      </p:sp>
      <p:sp>
        <p:nvSpPr>
          <p:cNvPr id="304" name="Text 302"/>
          <p:cNvSpPr/>
          <p:nvPr/>
        </p:nvSpPr>
        <p:spPr>
          <a:xfrm>
            <a:off x="4873752" y="34930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· EPSS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000" dirty="0"/>
          </a:p>
        </p:txBody>
      </p:sp>
      <p:sp>
        <p:nvSpPr>
          <p:cNvPr id="305" name="Shape 303"/>
          <p:cNvSpPr/>
          <p:nvPr/>
        </p:nvSpPr>
        <p:spPr>
          <a:xfrm>
            <a:off x="6766560" y="3200400"/>
            <a:ext cx="210312" cy="0"/>
          </a:xfrm>
          <a:prstGeom prst="line">
            <a:avLst/>
          </a:prstGeom>
          <a:noFill/>
          <a:ln w="1905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876288" y="3063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C155"/>
                </a:solidFill>
              </a:rPr>
              <a:t>▶</a:t>
            </a:r>
            <a:endParaRPr lang="en-US" sz="1100" dirty="0"/>
          </a:p>
        </p:txBody>
      </p:sp>
      <p:sp>
        <p:nvSpPr>
          <p:cNvPr id="307" name="Shape 305"/>
          <p:cNvSpPr/>
          <p:nvPr/>
        </p:nvSpPr>
        <p:spPr>
          <a:xfrm>
            <a:off x="7040880" y="18745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FF4B4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8" name="Shape 306"/>
          <p:cNvSpPr/>
          <p:nvPr/>
        </p:nvSpPr>
        <p:spPr>
          <a:xfrm>
            <a:off x="7040880" y="1874520"/>
            <a:ext cx="192024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704088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FF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PRIORITIZE</a:t>
            </a:r>
            <a:endParaRPr lang="en-US" sz="750" dirty="0"/>
          </a:p>
        </p:txBody>
      </p:sp>
      <p:sp>
        <p:nvSpPr>
          <p:cNvPr id="310" name="Text 308"/>
          <p:cNvSpPr/>
          <p:nvPr/>
        </p:nvSpPr>
        <p:spPr>
          <a:xfrm>
            <a:off x="7040880" y="23042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311" name="Text 309"/>
          <p:cNvSpPr/>
          <p:nvPr/>
        </p:nvSpPr>
        <p:spPr>
          <a:xfrm>
            <a:off x="7114032" y="2971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Engine</a:t>
            </a:r>
            <a:endParaRPr lang="en-US" sz="1250" dirty="0"/>
          </a:p>
        </p:txBody>
      </p:sp>
      <p:sp>
        <p:nvSpPr>
          <p:cNvPr id="312" name="Text 310"/>
          <p:cNvSpPr/>
          <p:nvPr/>
        </p:nvSpPr>
        <p:spPr>
          <a:xfrm>
            <a:off x="7114032" y="34930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Auto-isolate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· Alert</a:t>
            </a:r>
            <a:endParaRPr lang="en-US" sz="1000" dirty="0"/>
          </a:p>
        </p:txBody>
      </p:sp>
      <p:sp>
        <p:nvSpPr>
          <p:cNvPr id="313" name="Shape 311"/>
          <p:cNvSpPr/>
          <p:nvPr/>
        </p:nvSpPr>
        <p:spPr>
          <a:xfrm>
            <a:off x="9006840" y="3200400"/>
            <a:ext cx="210312" cy="0"/>
          </a:xfrm>
          <a:prstGeom prst="line">
            <a:avLst/>
          </a:prstGeom>
          <a:noFill/>
          <a:ln w="1905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9116568" y="3063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C155"/>
                </a:solidFill>
              </a:rPr>
              <a:t>▶</a:t>
            </a:r>
            <a:endParaRPr lang="en-US" sz="1100" dirty="0"/>
          </a:p>
        </p:txBody>
      </p:sp>
      <p:sp>
        <p:nvSpPr>
          <p:cNvPr id="315" name="Shape 313"/>
          <p:cNvSpPr/>
          <p:nvPr/>
        </p:nvSpPr>
        <p:spPr>
          <a:xfrm>
            <a:off x="9281160" y="18745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0D2444">
              <a:alpha val="35000"/>
            </a:srgbClr>
          </a:solidFill>
          <a:ln w="25400">
            <a:solidFill>
              <a:srgbClr val="64C864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6" name="Shape 314"/>
          <p:cNvSpPr/>
          <p:nvPr/>
        </p:nvSpPr>
        <p:spPr>
          <a:xfrm>
            <a:off x="9281160" y="1874520"/>
            <a:ext cx="1920240" cy="54864"/>
          </a:xfrm>
          <a:prstGeom prst="rect">
            <a:avLst/>
          </a:prstGeom>
          <a:solidFill>
            <a:srgbClr val="64C864"/>
          </a:solidFill>
          <a:ln w="12700">
            <a:solidFill>
              <a:srgbClr val="64C864">
                <a:alpha val="0"/>
              </a:srgbClr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928116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64C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750" dirty="0"/>
          </a:p>
        </p:txBody>
      </p:sp>
      <p:sp>
        <p:nvSpPr>
          <p:cNvPr id="318" name="Text 316"/>
          <p:cNvSpPr/>
          <p:nvPr/>
        </p:nvSpPr>
        <p:spPr>
          <a:xfrm>
            <a:off x="9281160" y="23042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19" name="Text 317"/>
          <p:cNvSpPr/>
          <p:nvPr/>
        </p:nvSpPr>
        <p:spPr>
          <a:xfrm>
            <a:off x="9354312" y="2971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20" name="Text 318"/>
          <p:cNvSpPr/>
          <p:nvPr/>
        </p:nvSpPr>
        <p:spPr>
          <a:xfrm>
            <a:off x="9354312" y="34930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</a:t>
            </a:r>
            <a:endParaRPr lang="en-US" sz="1000" dirty="0"/>
          </a:p>
        </p:txBody>
      </p:sp>
      <p:sp>
        <p:nvSpPr>
          <p:cNvPr id="321" name="Text 319"/>
          <p:cNvSpPr/>
          <p:nvPr/>
        </p:nvSpPr>
        <p:spPr>
          <a:xfrm>
            <a:off x="320040" y="51663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                 4-Agent AI Pipeline                Risk Scoring              Auto-Response             Analyst View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381752" y="2567041"/>
            <a:ext cx="28575" cy="28575"/>
          </a:xfrm>
          <a:prstGeom prst="ellipse">
            <a:avLst/>
          </a:prstGeom>
          <a:solidFill>
            <a:srgbClr val="ECC155">
              <a:alpha val="30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847708" y="5490536"/>
            <a:ext cx="35045" cy="35045"/>
          </a:xfrm>
          <a:prstGeom prst="ellipse">
            <a:avLst/>
          </a:prstGeom>
          <a:solidFill>
            <a:srgbClr val="FF4B4B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184710" y="2584646"/>
            <a:ext cx="39302" cy="39302"/>
          </a:xfrm>
          <a:prstGeom prst="ellipse">
            <a:avLst/>
          </a:prstGeom>
          <a:solidFill>
            <a:srgbClr val="FF4B4B">
              <a:alpha val="16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946717" y="3529037"/>
            <a:ext cx="86872" cy="86872"/>
          </a:xfrm>
          <a:prstGeom prst="ellipse">
            <a:avLst/>
          </a:prstGeom>
          <a:solidFill>
            <a:srgbClr val="FF4B4B">
              <a:alpha val="44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380927" y="5300043"/>
            <a:ext cx="27450" cy="27450"/>
          </a:xfrm>
          <a:prstGeom prst="ellipse">
            <a:avLst/>
          </a:prstGeom>
          <a:solidFill>
            <a:srgbClr val="FF4B4B">
              <a:alpha val="21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223648" y="6306487"/>
            <a:ext cx="87703" cy="87703"/>
          </a:xfrm>
          <a:prstGeom prst="ellipse">
            <a:avLst/>
          </a:prstGeom>
          <a:solidFill>
            <a:srgbClr val="ECC155">
              <a:alpha val="3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855477" y="2252781"/>
            <a:ext cx="74068" cy="74068"/>
          </a:xfrm>
          <a:prstGeom prst="ellipse">
            <a:avLst/>
          </a:prstGeom>
          <a:solidFill>
            <a:srgbClr val="FF4B4B">
              <a:alpha val="31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366646" y="3264792"/>
            <a:ext cx="42092" cy="42092"/>
          </a:xfrm>
          <a:prstGeom prst="ellipse">
            <a:avLst/>
          </a:prstGeom>
          <a:solidFill>
            <a:srgbClr val="FF4B4B">
              <a:alpha val="34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742620" y="3745628"/>
            <a:ext cx="59176" cy="59176"/>
          </a:xfrm>
          <a:prstGeom prst="ellipse">
            <a:avLst/>
          </a:prstGeom>
          <a:solidFill>
            <a:srgbClr val="FF4B4B">
              <a:alpha val="18000"/>
            </a:srgbClr>
          </a:solidFill>
          <a:ln w="12700">
            <a:solidFill>
              <a:srgbClr val="FF4B4B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912828" y="1006340"/>
            <a:ext cx="64169" cy="64169"/>
          </a:xfrm>
          <a:prstGeom prst="ellipse">
            <a:avLst/>
          </a:prstGeom>
          <a:solidFill>
            <a:srgbClr val="ECC155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INTELLIGENCE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548640" y="65836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48640" y="6858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
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Visibility</a:t>
            </a:r>
            <a:endParaRPr lang="en-US" sz="4000" dirty="0"/>
          </a:p>
        </p:txBody>
      </p:sp>
      <p:sp>
        <p:nvSpPr>
          <p:cNvPr id="277" name="Text 275"/>
          <p:cNvSpPr/>
          <p:nvPr/>
        </p:nvSpPr>
        <p:spPr>
          <a:xfrm>
            <a:off x="548640" y="22128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IPs from AbuseIPDB and OTX geo-tagged and plotted live. Every marker is a confirmed threat actor with 75%+ confidence score.</a:t>
            </a:r>
            <a:endParaRPr lang="en-US" sz="1200" dirty="0"/>
          </a:p>
        </p:txBody>
      </p:sp>
      <p:sp>
        <p:nvSpPr>
          <p:cNvPr id="278" name="Shape 276"/>
          <p:cNvSpPr/>
          <p:nvPr/>
        </p:nvSpPr>
        <p:spPr>
          <a:xfrm>
            <a:off x="548640" y="320040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9" name="Text 277"/>
          <p:cNvSpPr/>
          <p:nvPr/>
        </p:nvSpPr>
        <p:spPr>
          <a:xfrm>
            <a:off x="548640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127</a:t>
            </a:r>
            <a:endParaRPr lang="en-US" sz="3400" dirty="0"/>
          </a:p>
        </p:txBody>
      </p:sp>
      <p:sp>
        <p:nvSpPr>
          <p:cNvPr id="280" name="Text 278"/>
          <p:cNvSpPr/>
          <p:nvPr/>
        </p:nvSpPr>
        <p:spPr>
          <a:xfrm>
            <a:off x="54864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CVEs Today</a:t>
            </a:r>
            <a:endParaRPr lang="en-US" sz="800" dirty="0"/>
          </a:p>
        </p:txBody>
      </p:sp>
      <p:sp>
        <p:nvSpPr>
          <p:cNvPr id="281" name="Shape 279"/>
          <p:cNvSpPr/>
          <p:nvPr/>
        </p:nvSpPr>
        <p:spPr>
          <a:xfrm>
            <a:off x="2148840" y="320040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ECC155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2" name="Text 280"/>
          <p:cNvSpPr/>
          <p:nvPr/>
        </p:nvSpPr>
        <p:spPr>
          <a:xfrm>
            <a:off x="2148840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400" dirty="0"/>
          </a:p>
        </p:txBody>
      </p:sp>
      <p:sp>
        <p:nvSpPr>
          <p:cNvPr id="283" name="Text 281"/>
          <p:cNvSpPr/>
          <p:nvPr/>
        </p:nvSpPr>
        <p:spPr>
          <a:xfrm>
            <a:off x="214884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Hostile IPs</a:t>
            </a:r>
            <a:endParaRPr lang="en-US" sz="800" dirty="0"/>
          </a:p>
        </p:txBody>
      </p:sp>
      <p:sp>
        <p:nvSpPr>
          <p:cNvPr id="284" name="Shape 282"/>
          <p:cNvSpPr/>
          <p:nvPr/>
        </p:nvSpPr>
        <p:spPr>
          <a:xfrm>
            <a:off x="3749040" y="320040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A1D35">
              <a:alpha val="2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5" name="Text 283"/>
          <p:cNvSpPr/>
          <p:nvPr/>
        </p:nvSpPr>
        <p:spPr>
          <a:xfrm>
            <a:off x="3749040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400" dirty="0"/>
          </a:p>
        </p:txBody>
      </p:sp>
      <p:sp>
        <p:nvSpPr>
          <p:cNvPr id="286" name="Text 284"/>
          <p:cNvSpPr/>
          <p:nvPr/>
        </p:nvSpPr>
        <p:spPr>
          <a:xfrm>
            <a:off x="374904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OTX Pulses</a:t>
            </a:r>
            <a:endParaRPr lang="en-US" sz="800" dirty="0"/>
          </a:p>
        </p:txBody>
      </p:sp>
      <p:sp>
        <p:nvSpPr>
          <p:cNvPr id="287" name="Shape 285"/>
          <p:cNvSpPr/>
          <p:nvPr/>
        </p:nvSpPr>
        <p:spPr>
          <a:xfrm>
            <a:off x="594360" y="4526280"/>
            <a:ext cx="128016" cy="128016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04672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active exploitation</a:t>
            </a:r>
            <a:endParaRPr lang="en-US" sz="1050" dirty="0"/>
          </a:p>
        </p:txBody>
      </p:sp>
      <p:sp>
        <p:nvSpPr>
          <p:cNvPr id="289" name="Shape 287"/>
          <p:cNvSpPr/>
          <p:nvPr/>
        </p:nvSpPr>
        <p:spPr>
          <a:xfrm>
            <a:off x="594360" y="4873752"/>
            <a:ext cx="128016" cy="128016"/>
          </a:xfrm>
          <a:prstGeom prst="ellipse">
            <a:avLst/>
          </a:prstGeom>
          <a:solidFill>
            <a:srgbClr val="ECC155"/>
          </a:solidFill>
          <a:ln w="12700">
            <a:solidFill>
              <a:srgbClr val="ECC15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804672" y="4828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threat</a:t>
            </a:r>
            <a:endParaRPr lang="en-US" sz="1050" dirty="0"/>
          </a:p>
        </p:txBody>
      </p:sp>
      <p:sp>
        <p:nvSpPr>
          <p:cNvPr id="291" name="Shape 289"/>
          <p:cNvSpPr/>
          <p:nvPr/>
        </p:nvSpPr>
        <p:spPr>
          <a:xfrm>
            <a:off x="594360" y="5221224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04672" y="5175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OTX intelligence feed</a:t>
            </a:r>
            <a:endParaRPr lang="en-US" sz="1050" dirty="0"/>
          </a:p>
        </p:txBody>
      </p:sp>
      <p:sp>
        <p:nvSpPr>
          <p:cNvPr id="293" name="Shape 291"/>
          <p:cNvSpPr/>
          <p:nvPr/>
        </p:nvSpPr>
        <p:spPr>
          <a:xfrm>
            <a:off x="5486400" y="274320"/>
            <a:ext cx="6400800" cy="6400800"/>
          </a:xfrm>
          <a:prstGeom prst="roundRect">
            <a:avLst>
              <a:gd name="adj" fmla="val 1714"/>
            </a:avLst>
          </a:prstGeom>
          <a:solidFill>
            <a:srgbClr val="0A1D35">
              <a:alpha val="16000"/>
            </a:srgbClr>
          </a:solidFill>
          <a:ln w="12700">
            <a:solidFill>
              <a:srgbClr val="ECC155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4" name="Shape 292"/>
          <p:cNvSpPr/>
          <p:nvPr/>
        </p:nvSpPr>
        <p:spPr>
          <a:xfrm>
            <a:off x="6821424" y="12435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004304" y="14264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187184" y="1335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370064" y="15179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552944" y="17007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278624" y="18836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912864" y="17922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735824" y="1335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729984" y="16093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7370064" y="29809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552944" y="31638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461504" y="3438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7278624" y="3621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644384" y="38039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370064" y="40782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741664" y="10607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924544" y="1152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107424" y="10607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290304" y="12435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015984" y="13807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381744" y="1152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8833104" y="1335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8924544" y="22494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107424" y="24323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290304" y="26151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015984" y="28895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381744" y="31638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8833104" y="3438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107424" y="3621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838944" y="9692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113264" y="1152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387584" y="106070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661904" y="12435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0021824" y="14264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479024" y="16093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0753344" y="14264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027664" y="1152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9930384" y="170078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0296144" y="17922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0479024" y="3438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0753344" y="32552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0936224" y="343814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0661904" y="362102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027664" y="3712464"/>
            <a:ext cx="73152" cy="73152"/>
          </a:xfrm>
          <a:prstGeom prst="ellipse">
            <a:avLst/>
          </a:prstGeom>
          <a:solidFill>
            <a:srgbClr val="4A6FA5">
              <a:alpha val="55000"/>
            </a:srgbClr>
          </a:solidFill>
          <a:ln w="12700">
            <a:solidFill>
              <a:srgbClr val="4A6FA5">
                <a:alpha val="4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0149840" y="1188720"/>
            <a:ext cx="-1417320" cy="-45720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8732520" y="731520"/>
            <a:ext cx="-1417320" cy="73152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668512" y="667512"/>
            <a:ext cx="128016" cy="128016"/>
          </a:xfrm>
          <a:prstGeom prst="ellipse">
            <a:avLst/>
          </a:prstGeom>
          <a:solidFill>
            <a:srgbClr val="FF4B4B">
              <a:alpha val="8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067544" y="1106424"/>
            <a:ext cx="164592" cy="164592"/>
          </a:xfrm>
          <a:prstGeom prst="ellipse">
            <a:avLst/>
          </a:prstGeom>
          <a:solidFill>
            <a:srgbClr val="FF4B4B">
              <a:alpha val="50000"/>
            </a:srgbClr>
          </a:solidFill>
          <a:ln w="12700">
            <a:solidFill>
              <a:srgbClr val="FF4B4B">
                <a:alpha val="800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242048" y="138988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052560" y="1234440"/>
            <a:ext cx="-868680" cy="-45720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183880" y="777240"/>
            <a:ext cx="-868680" cy="68580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119872" y="713232"/>
            <a:ext cx="128016" cy="128016"/>
          </a:xfrm>
          <a:prstGeom prst="ellipse">
            <a:avLst/>
          </a:prstGeom>
          <a:solidFill>
            <a:srgbClr val="FF4B4B">
              <a:alpha val="8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970264" y="1152144"/>
            <a:ext cx="164592" cy="164592"/>
          </a:xfrm>
          <a:prstGeom prst="ellipse">
            <a:avLst/>
          </a:prstGeom>
          <a:solidFill>
            <a:srgbClr val="FF4B4B">
              <a:alpha val="50000"/>
            </a:srgbClr>
          </a:solidFill>
          <a:ln w="12700">
            <a:solidFill>
              <a:srgbClr val="FF4B4B">
                <a:alpha val="800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242048" y="138988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515600" y="1645920"/>
            <a:ext cx="-777240" cy="-914400"/>
          </a:xfrm>
          <a:prstGeom prst="line">
            <a:avLst/>
          </a:prstGeom>
          <a:noFill/>
          <a:ln w="8890">
            <a:solidFill>
              <a:srgbClr val="ECC155">
                <a:alpha val="450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738360" y="731520"/>
            <a:ext cx="-777240" cy="457200"/>
          </a:xfrm>
          <a:prstGeom prst="line">
            <a:avLst/>
          </a:prstGeom>
          <a:noFill/>
          <a:ln w="8890">
            <a:solidFill>
              <a:srgbClr val="ECC155">
                <a:alpha val="450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674352" y="667512"/>
            <a:ext cx="128016" cy="128016"/>
          </a:xfrm>
          <a:prstGeom prst="ellipse">
            <a:avLst/>
          </a:prstGeom>
          <a:solidFill>
            <a:srgbClr val="ECC155">
              <a:alpha val="80000"/>
            </a:srgbClr>
          </a:solidFill>
          <a:ln w="12700">
            <a:solidFill>
              <a:srgbClr val="ECC155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433304" y="1563624"/>
            <a:ext cx="164592" cy="164592"/>
          </a:xfrm>
          <a:prstGeom prst="ellipse">
            <a:avLst/>
          </a:prstGeom>
          <a:solidFill>
            <a:srgbClr val="ECC155">
              <a:alpha val="50000"/>
            </a:srgbClr>
          </a:solidFill>
          <a:ln w="12700">
            <a:solidFill>
              <a:srgbClr val="ECC155">
                <a:alpha val="80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887968" y="111556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789920" y="1463040"/>
            <a:ext cx="-1691640" cy="-457200"/>
          </a:xfrm>
          <a:prstGeom prst="line">
            <a:avLst/>
          </a:prstGeom>
          <a:noFill/>
          <a:ln w="8890">
            <a:solidFill>
              <a:srgbClr val="ECC155">
                <a:alpha val="45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098280" y="1005840"/>
            <a:ext cx="-1691640" cy="2011680"/>
          </a:xfrm>
          <a:prstGeom prst="line">
            <a:avLst/>
          </a:prstGeom>
          <a:noFill/>
          <a:ln w="8890">
            <a:solidFill>
              <a:srgbClr val="ECC155">
                <a:alpha val="450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9034272" y="941832"/>
            <a:ext cx="128016" cy="128016"/>
          </a:xfrm>
          <a:prstGeom prst="ellipse">
            <a:avLst/>
          </a:prstGeom>
          <a:solidFill>
            <a:srgbClr val="ECC155">
              <a:alpha val="80000"/>
            </a:srgbClr>
          </a:solidFill>
          <a:ln w="12700">
            <a:solidFill>
              <a:srgbClr val="ECC155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707624" y="1380744"/>
            <a:ext cx="164592" cy="164592"/>
          </a:xfrm>
          <a:prstGeom prst="ellipse">
            <a:avLst/>
          </a:prstGeom>
          <a:solidFill>
            <a:srgbClr val="ECC155">
              <a:alpha val="50000"/>
            </a:srgbClr>
          </a:solidFill>
          <a:ln w="12700">
            <a:solidFill>
              <a:srgbClr val="ECC155">
                <a:alpha val="800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333488" y="294436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961120" y="2286000"/>
            <a:ext cx="-685800" cy="-1005840"/>
          </a:xfrm>
          <a:prstGeom prst="line">
            <a:avLst/>
          </a:prstGeom>
          <a:noFill/>
          <a:ln w="889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275320" y="1280160"/>
            <a:ext cx="-685800" cy="457200"/>
          </a:xfrm>
          <a:prstGeom prst="line">
            <a:avLst/>
          </a:prstGeom>
          <a:noFill/>
          <a:ln w="889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8211312" y="1216152"/>
            <a:ext cx="128016" cy="128016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8878824" y="2203704"/>
            <a:ext cx="164592" cy="164592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516368" y="166420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9144000" y="1097280"/>
            <a:ext cx="-685800" cy="-45720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458200" y="640080"/>
            <a:ext cx="-685800" cy="731520"/>
          </a:xfrm>
          <a:prstGeom prst="line">
            <a:avLst/>
          </a:prstGeom>
          <a:noFill/>
          <a:ln w="8890">
            <a:solidFill>
              <a:srgbClr val="FF4B4B">
                <a:alpha val="45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394192" y="576072"/>
            <a:ext cx="128016" cy="128016"/>
          </a:xfrm>
          <a:prstGeom prst="ellipse">
            <a:avLst/>
          </a:prstGeom>
          <a:solidFill>
            <a:srgbClr val="FF4B4B">
              <a:alpha val="8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9061704" y="1014984"/>
            <a:ext cx="164592" cy="164592"/>
          </a:xfrm>
          <a:prstGeom prst="ellipse">
            <a:avLst/>
          </a:prstGeom>
          <a:solidFill>
            <a:srgbClr val="FF4B4B">
              <a:alpha val="50000"/>
            </a:srgbClr>
          </a:solidFill>
          <a:ln w="12700">
            <a:solidFill>
              <a:srgbClr val="FF4B4B">
                <a:alpha val="80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7699248" y="1298448"/>
            <a:ext cx="146304" cy="146304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5577840" y="6400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ATTACK MAP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404016" y="4599079"/>
            <a:ext cx="67764" cy="67764"/>
          </a:xfrm>
          <a:prstGeom prst="ellipse">
            <a:avLst/>
          </a:prstGeom>
          <a:solidFill>
            <a:srgbClr val="00D4FF">
              <a:alpha val="4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067151" y="2200919"/>
            <a:ext cx="65416" cy="65416"/>
          </a:xfrm>
          <a:prstGeom prst="ellipse">
            <a:avLst/>
          </a:prstGeom>
          <a:solidFill>
            <a:srgbClr val="A78BFA">
              <a:alpha val="37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876844" y="1292877"/>
            <a:ext cx="40983" cy="40983"/>
          </a:xfrm>
          <a:prstGeom prst="ellipse">
            <a:avLst/>
          </a:prstGeom>
          <a:solidFill>
            <a:srgbClr val="ECC155">
              <a:alpha val="37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039598" y="3815965"/>
            <a:ext cx="30830" cy="3083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218663" y="3291695"/>
            <a:ext cx="37737" cy="37737"/>
          </a:xfrm>
          <a:prstGeom prst="ellipse">
            <a:avLst/>
          </a:prstGeom>
          <a:solidFill>
            <a:srgbClr val="ECC155">
              <a:alpha val="16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596216" y="5031119"/>
            <a:ext cx="89746" cy="89746"/>
          </a:xfrm>
          <a:prstGeom prst="ellipse">
            <a:avLst/>
          </a:prstGeom>
          <a:solidFill>
            <a:srgbClr val="ECC155">
              <a:alpha val="21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145454" y="1770356"/>
            <a:ext cx="85692" cy="85692"/>
          </a:xfrm>
          <a:prstGeom prst="ellipse">
            <a:avLst/>
          </a:prstGeom>
          <a:solidFill>
            <a:srgbClr val="A78BFA">
              <a:alpha val="41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1504532" y="3230286"/>
            <a:ext cx="65997" cy="65997"/>
          </a:xfrm>
          <a:prstGeom prst="ellipse">
            <a:avLst/>
          </a:prstGeom>
          <a:solidFill>
            <a:srgbClr val="A78BFA">
              <a:alpha val="3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352791" y="897632"/>
            <a:ext cx="86398" cy="86398"/>
          </a:xfrm>
          <a:prstGeom prst="ellipse">
            <a:avLst/>
          </a:prstGeom>
          <a:solidFill>
            <a:srgbClr val="00D4FF">
              <a:alpha val="32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552472" y="6284434"/>
            <a:ext cx="46847" cy="46847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374855" y="4821076"/>
            <a:ext cx="61574" cy="61574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834104" y="3373741"/>
            <a:ext cx="51527" cy="51527"/>
          </a:xfrm>
          <a:prstGeom prst="ellipse">
            <a:avLst/>
          </a:prstGeom>
          <a:solidFill>
            <a:srgbClr val="ECC155">
              <a:alpha val="2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946936" y="218148"/>
            <a:ext cx="77011" cy="77011"/>
          </a:xfrm>
          <a:prstGeom prst="ellipse">
            <a:avLst/>
          </a:prstGeom>
          <a:solidFill>
            <a:srgbClr val="ECC155">
              <a:alpha val="22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6174311" y="3010079"/>
            <a:ext cx="62910" cy="62910"/>
          </a:xfrm>
          <a:prstGeom prst="ellipse">
            <a:avLst/>
          </a:prstGeom>
          <a:solidFill>
            <a:srgbClr val="ECC155">
              <a:alpha val="28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492561" y="1885900"/>
            <a:ext cx="33324" cy="33324"/>
          </a:xfrm>
          <a:prstGeom prst="ellipse">
            <a:avLst/>
          </a:prstGeom>
          <a:solidFill>
            <a:srgbClr val="00D4FF">
              <a:alpha val="4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374448" y="6121841"/>
            <a:ext cx="44448" cy="44448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998034" y="1225059"/>
            <a:ext cx="30939" cy="30939"/>
          </a:xfrm>
          <a:prstGeom prst="ellipse">
            <a:avLst/>
          </a:prstGeom>
          <a:solidFill>
            <a:srgbClr val="ECC155">
              <a:alpha val="4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206904" y="5681977"/>
            <a:ext cx="52581" cy="52581"/>
          </a:xfrm>
          <a:prstGeom prst="ellipse">
            <a:avLst/>
          </a:prstGeom>
          <a:solidFill>
            <a:srgbClr val="ECC155">
              <a:alpha val="3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6736018" y="4125093"/>
            <a:ext cx="61816" cy="61816"/>
          </a:xfrm>
          <a:prstGeom prst="ellipse">
            <a:avLst/>
          </a:prstGeom>
          <a:solidFill>
            <a:srgbClr val="00D4FF">
              <a:alpha val="21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019459" y="1718817"/>
            <a:ext cx="89537" cy="89537"/>
          </a:xfrm>
          <a:prstGeom prst="ellipse">
            <a:avLst/>
          </a:prstGeom>
          <a:solidFill>
            <a:srgbClr val="00D4FF">
              <a:alpha val="27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INTELLIGENCE</a:t>
            </a:r>
            <a:endParaRPr lang="en-US" sz="800" dirty="0"/>
          </a:p>
        </p:txBody>
      </p:sp>
      <p:sp>
        <p:nvSpPr>
          <p:cNvPr id="285" name="Shape 283"/>
          <p:cNvSpPr/>
          <p:nvPr/>
        </p:nvSpPr>
        <p:spPr>
          <a:xfrm>
            <a:off x="548640" y="61264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</a:t>
            </a:r>
            <a:pPr algn="ctr" indent="0" marL="0">
              <a:buNone/>
            </a:pPr>
            <a:r>
              <a:rPr lang="en-US" sz="44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Detection</a:t>
            </a:r>
            <a:endParaRPr lang="en-US" sz="4400" dirty="0"/>
          </a:p>
        </p:txBody>
      </p:sp>
      <p:sp>
        <p:nvSpPr>
          <p:cNvPr id="287" name="Shape 285"/>
          <p:cNvSpPr/>
          <p:nvPr/>
        </p:nvSpPr>
        <p:spPr>
          <a:xfrm>
            <a:off x="457200" y="1600200"/>
            <a:ext cx="5577840" cy="2148840"/>
          </a:xfrm>
          <a:prstGeom prst="roundRect">
            <a:avLst>
              <a:gd name="adj" fmla="val 5957"/>
            </a:avLst>
          </a:prstGeom>
          <a:solidFill>
            <a:srgbClr val="0A1D35">
              <a:alpha val="26000"/>
            </a:srgbClr>
          </a:solidFill>
          <a:ln w="15240">
            <a:solidFill>
              <a:srgbClr val="00D4FF">
                <a:alpha val="52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8" name="Shape 286"/>
          <p:cNvSpPr/>
          <p:nvPr/>
        </p:nvSpPr>
        <p:spPr>
          <a:xfrm>
            <a:off x="457200" y="1600200"/>
            <a:ext cx="55778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58368" y="1856232"/>
            <a:ext cx="658368" cy="658368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658368" y="1856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1" name="Text 289"/>
          <p:cNvSpPr/>
          <p:nvPr/>
        </p:nvSpPr>
        <p:spPr>
          <a:xfrm>
            <a:off x="1444752" y="18928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Threat Scoring</a:t>
            </a:r>
            <a:endParaRPr lang="en-US" sz="1600" dirty="0"/>
          </a:p>
        </p:txBody>
      </p:sp>
      <p:sp>
        <p:nvSpPr>
          <p:cNvPr id="292" name="Text 290"/>
          <p:cNvSpPr/>
          <p:nvPr/>
        </p:nvSpPr>
        <p:spPr>
          <a:xfrm>
            <a:off x="658368" y="2569464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ThreatLens Risk Score combining CVSS severity, EPSS exploit probability, asset exposure, and recency — one number, one decision</a:t>
            </a:r>
            <a:endParaRPr lang="en-US" sz="1150" dirty="0"/>
          </a:p>
        </p:txBody>
      </p:sp>
      <p:sp>
        <p:nvSpPr>
          <p:cNvPr id="293" name="Shape 291"/>
          <p:cNvSpPr/>
          <p:nvPr/>
        </p:nvSpPr>
        <p:spPr>
          <a:xfrm>
            <a:off x="6080760" y="1600200"/>
            <a:ext cx="5577840" cy="2148840"/>
          </a:xfrm>
          <a:prstGeom prst="roundRect">
            <a:avLst>
              <a:gd name="adj" fmla="val 5957"/>
            </a:avLst>
          </a:prstGeom>
          <a:solidFill>
            <a:srgbClr val="0A1D35">
              <a:alpha val="26000"/>
            </a:srgbClr>
          </a:solidFill>
          <a:ln w="15240">
            <a:solidFill>
              <a:srgbClr val="ECC155">
                <a:alpha val="52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4" name="Shape 292"/>
          <p:cNvSpPr/>
          <p:nvPr/>
        </p:nvSpPr>
        <p:spPr>
          <a:xfrm>
            <a:off x="6080760" y="1600200"/>
            <a:ext cx="5577840" cy="54864"/>
          </a:xfrm>
          <a:prstGeom prst="rect">
            <a:avLst/>
          </a:prstGeom>
          <a:solidFill>
            <a:srgbClr val="ECC155"/>
          </a:solidFill>
          <a:ln w="12700">
            <a:solidFill>
              <a:srgbClr val="ECC155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6281928" y="1856232"/>
            <a:ext cx="658368" cy="658368"/>
          </a:xfrm>
          <a:prstGeom prst="ellipse">
            <a:avLst/>
          </a:prstGeom>
          <a:solidFill>
            <a:srgbClr val="ECC155">
              <a:alpha val="18000"/>
            </a:srgbClr>
          </a:solidFill>
          <a:ln w="12700">
            <a:solidFill>
              <a:srgbClr val="ECC155">
                <a:alpha val="60000"/>
              </a:srgbClr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6281928" y="1856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97" name="Text 295"/>
          <p:cNvSpPr/>
          <p:nvPr/>
        </p:nvSpPr>
        <p:spPr>
          <a:xfrm>
            <a:off x="7068312" y="18928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Alerts</a:t>
            </a:r>
            <a:endParaRPr lang="en-US" sz="1600" dirty="0"/>
          </a:p>
        </p:txBody>
      </p:sp>
      <p:sp>
        <p:nvSpPr>
          <p:cNvPr id="298" name="Text 296"/>
          <p:cNvSpPr/>
          <p:nvPr/>
        </p:nvSpPr>
        <p:spPr>
          <a:xfrm>
            <a:off x="6281928" y="2569464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threat gets a plain-English analyst summary. No raw JSON. What's affected, how it works, and exactly what to do — before you ask</a:t>
            </a:r>
            <a:endParaRPr lang="en-US" sz="1150" dirty="0"/>
          </a:p>
        </p:txBody>
      </p:sp>
      <p:sp>
        <p:nvSpPr>
          <p:cNvPr id="299" name="Shape 297"/>
          <p:cNvSpPr/>
          <p:nvPr/>
        </p:nvSpPr>
        <p:spPr>
          <a:xfrm>
            <a:off x="457200" y="3977640"/>
            <a:ext cx="5577840" cy="2148840"/>
          </a:xfrm>
          <a:prstGeom prst="roundRect">
            <a:avLst>
              <a:gd name="adj" fmla="val 5957"/>
            </a:avLst>
          </a:prstGeom>
          <a:solidFill>
            <a:srgbClr val="0A1D35">
              <a:alpha val="26000"/>
            </a:srgbClr>
          </a:solidFill>
          <a:ln w="15240">
            <a:solidFill>
              <a:srgbClr val="FF4B4B">
                <a:alpha val="52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Shape 298"/>
          <p:cNvSpPr/>
          <p:nvPr/>
        </p:nvSpPr>
        <p:spPr>
          <a:xfrm>
            <a:off x="457200" y="3977640"/>
            <a:ext cx="557784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58368" y="4233672"/>
            <a:ext cx="658368" cy="658368"/>
          </a:xfrm>
          <a:prstGeom prst="ellipse">
            <a:avLst/>
          </a:prstGeom>
          <a:solidFill>
            <a:srgbClr val="FF4B4B">
              <a:alpha val="18000"/>
            </a:srgbClr>
          </a:solidFill>
          <a:ln w="12700">
            <a:solidFill>
              <a:srgbClr val="FF4B4B">
                <a:alpha val="60000"/>
              </a:srgbClr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658368" y="4233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303" name="Text 301"/>
          <p:cNvSpPr/>
          <p:nvPr/>
        </p:nvSpPr>
        <p:spPr>
          <a:xfrm>
            <a:off x="1444752" y="427024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Insights</a:t>
            </a:r>
            <a:endParaRPr lang="en-US" sz="1600" dirty="0"/>
          </a:p>
        </p:txBody>
      </p:sp>
      <p:sp>
        <p:nvSpPr>
          <p:cNvPr id="304" name="Text 302"/>
          <p:cNvSpPr/>
          <p:nvPr/>
        </p:nvSpPr>
        <p:spPr>
          <a:xfrm>
            <a:off x="658368" y="4946904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AI morning brief at 08:00 UTC — top threats, active incidents, patterns detected, and three immediate actions ready for your team</a:t>
            </a:r>
            <a:endParaRPr lang="en-US" sz="1150" dirty="0"/>
          </a:p>
        </p:txBody>
      </p:sp>
      <p:sp>
        <p:nvSpPr>
          <p:cNvPr id="305" name="Shape 303"/>
          <p:cNvSpPr/>
          <p:nvPr/>
        </p:nvSpPr>
        <p:spPr>
          <a:xfrm>
            <a:off x="6080760" y="3977640"/>
            <a:ext cx="5577840" cy="2148840"/>
          </a:xfrm>
          <a:prstGeom prst="roundRect">
            <a:avLst>
              <a:gd name="adj" fmla="val 5957"/>
            </a:avLst>
          </a:prstGeom>
          <a:solidFill>
            <a:srgbClr val="0A1D35">
              <a:alpha val="26000"/>
            </a:srgbClr>
          </a:solidFill>
          <a:ln w="15240">
            <a:solidFill>
              <a:srgbClr val="64C864">
                <a:alpha val="52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6" name="Shape 304"/>
          <p:cNvSpPr/>
          <p:nvPr/>
        </p:nvSpPr>
        <p:spPr>
          <a:xfrm>
            <a:off x="6080760" y="3977640"/>
            <a:ext cx="5577840" cy="54864"/>
          </a:xfrm>
          <a:prstGeom prst="rect">
            <a:avLst/>
          </a:prstGeom>
          <a:solidFill>
            <a:srgbClr val="64C864"/>
          </a:solidFill>
          <a:ln w="12700">
            <a:solidFill>
              <a:srgbClr val="64C864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281928" y="4233672"/>
            <a:ext cx="658368" cy="658368"/>
          </a:xfrm>
          <a:prstGeom prst="ellipse">
            <a:avLst/>
          </a:prstGeom>
          <a:solidFill>
            <a:srgbClr val="64C864">
              <a:alpha val="18000"/>
            </a:srgbClr>
          </a:solidFill>
          <a:ln w="12700">
            <a:solidFill>
              <a:srgbClr val="64C864">
                <a:alpha val="60000"/>
              </a:srgbClr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281928" y="4233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9" name="Text 307"/>
          <p:cNvSpPr/>
          <p:nvPr/>
        </p:nvSpPr>
        <p:spPr>
          <a:xfrm>
            <a:off x="7068312" y="427024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Playbooks</a:t>
            </a:r>
            <a:endParaRPr lang="en-US" sz="1600" dirty="0"/>
          </a:p>
        </p:txBody>
      </p:sp>
      <p:sp>
        <p:nvSpPr>
          <p:cNvPr id="310" name="Text 308"/>
          <p:cNvSpPr/>
          <p:nvPr/>
        </p:nvSpPr>
        <p:spPr>
          <a:xfrm>
            <a:off x="6281928" y="4946904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6–8 numbered, incident-specific remediation steps per confirmed threat — specific IPs, hashes, and MITRE stages, not generic advice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83415" y="2374524"/>
            <a:ext cx="70405" cy="70405"/>
          </a:xfrm>
          <a:prstGeom prst="ellipse">
            <a:avLst/>
          </a:prstGeom>
          <a:solidFill>
            <a:srgbClr val="64C864">
              <a:alpha val="2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913008" y="1254199"/>
            <a:ext cx="46169" cy="46169"/>
          </a:xfrm>
          <a:prstGeom prst="ellipse">
            <a:avLst/>
          </a:prstGeom>
          <a:solidFill>
            <a:srgbClr val="ECC155">
              <a:alpha val="23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391181" y="4076524"/>
            <a:ext cx="79195" cy="79195"/>
          </a:xfrm>
          <a:prstGeom prst="ellipse">
            <a:avLst/>
          </a:prstGeom>
          <a:solidFill>
            <a:srgbClr val="ECC155">
              <a:alpha val="3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424916" y="1239076"/>
            <a:ext cx="79560" cy="79560"/>
          </a:xfrm>
          <a:prstGeom prst="ellipse">
            <a:avLst/>
          </a:prstGeom>
          <a:solidFill>
            <a:srgbClr val="64C864">
              <a:alpha val="22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258449" y="3842422"/>
            <a:ext cx="63646" cy="63646"/>
          </a:xfrm>
          <a:prstGeom prst="ellipse">
            <a:avLst/>
          </a:prstGeom>
          <a:solidFill>
            <a:srgbClr val="64C864">
              <a:alpha val="16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068998" y="911599"/>
            <a:ext cx="86500" cy="86500"/>
          </a:xfrm>
          <a:prstGeom prst="ellipse">
            <a:avLst/>
          </a:prstGeom>
          <a:solidFill>
            <a:srgbClr val="ECC155">
              <a:alpha val="3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438519" y="3605504"/>
            <a:ext cx="65521" cy="65521"/>
          </a:xfrm>
          <a:prstGeom prst="ellipse">
            <a:avLst/>
          </a:prstGeom>
          <a:solidFill>
            <a:srgbClr val="64C864">
              <a:alpha val="3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593692" y="1689735"/>
            <a:ext cx="58078" cy="58078"/>
          </a:xfrm>
          <a:prstGeom prst="ellipse">
            <a:avLst/>
          </a:prstGeom>
          <a:solidFill>
            <a:srgbClr val="ECC155">
              <a:alpha val="37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746802" y="5447548"/>
            <a:ext cx="31486" cy="31486"/>
          </a:xfrm>
          <a:prstGeom prst="ellipse">
            <a:avLst/>
          </a:prstGeom>
          <a:solidFill>
            <a:srgbClr val="ECC155">
              <a:alpha val="3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81614" y="4702999"/>
            <a:ext cx="43597" cy="43597"/>
          </a:xfrm>
          <a:prstGeom prst="ellipse">
            <a:avLst/>
          </a:prstGeom>
          <a:solidFill>
            <a:srgbClr val="A78BFA">
              <a:alpha val="31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671623" y="4917294"/>
            <a:ext cx="77370" cy="77370"/>
          </a:xfrm>
          <a:prstGeom prst="ellipse">
            <a:avLst/>
          </a:prstGeom>
          <a:solidFill>
            <a:srgbClr val="64C864">
              <a:alpha val="35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044452" y="5969550"/>
            <a:ext cx="53459" cy="53459"/>
          </a:xfrm>
          <a:prstGeom prst="ellipse">
            <a:avLst/>
          </a:prstGeom>
          <a:solidFill>
            <a:srgbClr val="A78BFA">
              <a:alpha val="23000"/>
            </a:srgbClr>
          </a:solidFill>
          <a:ln w="12700">
            <a:solidFill>
              <a:srgbClr val="64C864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135517" y="1327973"/>
            <a:ext cx="68822" cy="68822"/>
          </a:xfrm>
          <a:prstGeom prst="ellipse">
            <a:avLst/>
          </a:prstGeom>
          <a:solidFill>
            <a:srgbClr val="ECC155">
              <a:alpha val="43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898514" y="5406227"/>
            <a:ext cx="28038" cy="28038"/>
          </a:xfrm>
          <a:prstGeom prst="ellipse">
            <a:avLst/>
          </a:prstGeom>
          <a:solidFill>
            <a:srgbClr val="00D4FF">
              <a:alpha val="42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800" dirty="0"/>
          </a:p>
        </p:txBody>
      </p:sp>
      <p:sp>
        <p:nvSpPr>
          <p:cNvPr id="279" name="Shape 277"/>
          <p:cNvSpPr/>
          <p:nvPr/>
        </p:nvSpPr>
        <p:spPr>
          <a:xfrm>
            <a:off x="548640" y="612648"/>
            <a:ext cx="365760" cy="0"/>
          </a:xfrm>
          <a:prstGeom prst="line">
            <a:avLst/>
          </a:prstGeom>
          <a:noFill/>
          <a:ln w="31750">
            <a:solidFill>
              <a:srgbClr val="ECC15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Team</a:t>
            </a:r>
            <a:endParaRPr lang="en-US" sz="4400" dirty="0"/>
          </a:p>
        </p:txBody>
      </p:sp>
      <p:sp>
        <p:nvSpPr>
          <p:cNvPr id="281" name="Text 279"/>
          <p:cNvSpPr/>
          <p:nvPr/>
        </p:nvSpPr>
        <p:spPr>
          <a:xfrm>
            <a:off x="457200" y="137160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during the IBM Build on Base Hackathon 2025</a:t>
            </a:r>
            <a:endParaRPr lang="en-US" sz="1300" dirty="0"/>
          </a:p>
        </p:txBody>
      </p:sp>
      <p:sp>
        <p:nvSpPr>
          <p:cNvPr id="282" name="Shape 280"/>
          <p:cNvSpPr/>
          <p:nvPr/>
        </p:nvSpPr>
        <p:spPr>
          <a:xfrm>
            <a:off x="320040" y="1783080"/>
            <a:ext cx="2697480" cy="4526280"/>
          </a:xfrm>
          <a:prstGeom prst="roundRect">
            <a:avLst>
              <a:gd name="adj" fmla="val 5424"/>
            </a:avLst>
          </a:prstGeom>
          <a:solidFill>
            <a:srgbClr val="0A1D35">
              <a:alpha val="28000"/>
            </a:srgbClr>
          </a:solidFill>
          <a:ln w="16510">
            <a:solidFill>
              <a:srgbClr val="ECC15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3" name="Shape 281"/>
          <p:cNvSpPr/>
          <p:nvPr/>
        </p:nvSpPr>
        <p:spPr>
          <a:xfrm>
            <a:off x="320040" y="1783080"/>
            <a:ext cx="2697480" cy="73152"/>
          </a:xfrm>
          <a:prstGeom prst="rect">
            <a:avLst/>
          </a:prstGeom>
          <a:solidFill>
            <a:srgbClr val="ECC155"/>
          </a:solidFill>
          <a:ln w="12700">
            <a:solidFill>
              <a:srgbClr val="ECC155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257300" y="2057400"/>
            <a:ext cx="822960" cy="822960"/>
          </a:xfrm>
          <a:prstGeom prst="ellipse">
            <a:avLst/>
          </a:prstGeom>
          <a:solidFill>
            <a:srgbClr val="ECC155">
              <a:alpha val="25000"/>
            </a:srgbClr>
          </a:solidFill>
          <a:ln w="25400">
            <a:solidFill>
              <a:srgbClr val="ECC155">
                <a:alpha val="75000"/>
              </a:srgbClr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12573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</a:t>
            </a:r>
            <a:endParaRPr lang="en-US" sz="2000" dirty="0"/>
          </a:p>
        </p:txBody>
      </p:sp>
      <p:sp>
        <p:nvSpPr>
          <p:cNvPr id="286" name="Text 284"/>
          <p:cNvSpPr/>
          <p:nvPr/>
        </p:nvSpPr>
        <p:spPr>
          <a:xfrm>
            <a:off x="411480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Varen Gaurav</a:t>
            </a:r>
            <a:endParaRPr lang="en-US" sz="1400" dirty="0"/>
          </a:p>
        </p:txBody>
      </p:sp>
      <p:sp>
        <p:nvSpPr>
          <p:cNvPr id="287" name="Shape 285"/>
          <p:cNvSpPr/>
          <p:nvPr/>
        </p:nvSpPr>
        <p:spPr>
          <a:xfrm>
            <a:off x="914400" y="3502152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ECC155">
              <a:alpha val="18000"/>
            </a:srgbClr>
          </a:solidFill>
          <a:ln w="1016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914400" y="3502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Lead</a:t>
            </a:r>
            <a:endParaRPr lang="en-US" sz="850" dirty="0"/>
          </a:p>
        </p:txBody>
      </p:sp>
      <p:sp>
        <p:nvSpPr>
          <p:cNvPr id="289" name="Shape 287"/>
          <p:cNvSpPr/>
          <p:nvPr/>
        </p:nvSpPr>
        <p:spPr>
          <a:xfrm>
            <a:off x="521208" y="4114800"/>
            <a:ext cx="128016" cy="0"/>
          </a:xfrm>
          <a:prstGeom prst="line">
            <a:avLst/>
          </a:prstGeom>
          <a:noFill/>
          <a:ln w="19050">
            <a:solidFill>
              <a:srgbClr val="ECC155">
                <a:alpha val="80000"/>
              </a:srgbClr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722376" y="3995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291" name="Shape 289"/>
          <p:cNvSpPr/>
          <p:nvPr/>
        </p:nvSpPr>
        <p:spPr>
          <a:xfrm>
            <a:off x="521208" y="4709160"/>
            <a:ext cx="128016" cy="0"/>
          </a:xfrm>
          <a:prstGeom prst="line">
            <a:avLst/>
          </a:prstGeom>
          <a:noFill/>
          <a:ln w="19050">
            <a:solidFill>
              <a:srgbClr val="ECC155">
                <a:alpha val="80000"/>
              </a:srgbClr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722376" y="4590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50" dirty="0"/>
          </a:p>
        </p:txBody>
      </p:sp>
      <p:sp>
        <p:nvSpPr>
          <p:cNvPr id="293" name="Shape 291"/>
          <p:cNvSpPr/>
          <p:nvPr/>
        </p:nvSpPr>
        <p:spPr>
          <a:xfrm>
            <a:off x="521208" y="5303520"/>
            <a:ext cx="128016" cy="0"/>
          </a:xfrm>
          <a:prstGeom prst="line">
            <a:avLst/>
          </a:prstGeom>
          <a:noFill/>
          <a:ln w="19050">
            <a:solidFill>
              <a:srgbClr val="ECC155">
                <a:alpha val="80000"/>
              </a:srgbClr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722376" y="5184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150" dirty="0"/>
          </a:p>
        </p:txBody>
      </p:sp>
      <p:sp>
        <p:nvSpPr>
          <p:cNvPr id="295" name="Shape 293"/>
          <p:cNvSpPr/>
          <p:nvPr/>
        </p:nvSpPr>
        <p:spPr>
          <a:xfrm>
            <a:off x="3355848" y="1783080"/>
            <a:ext cx="2697480" cy="4526280"/>
          </a:xfrm>
          <a:prstGeom prst="roundRect">
            <a:avLst>
              <a:gd name="adj" fmla="val 5424"/>
            </a:avLst>
          </a:prstGeom>
          <a:solidFill>
            <a:srgbClr val="0A1D35">
              <a:alpha val="28000"/>
            </a:srgbClr>
          </a:solidFill>
          <a:ln w="1651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6" name="Shape 294"/>
          <p:cNvSpPr/>
          <p:nvPr/>
        </p:nvSpPr>
        <p:spPr>
          <a:xfrm>
            <a:off x="3355848" y="1783080"/>
            <a:ext cx="269748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293108" y="2057400"/>
            <a:ext cx="822960" cy="822960"/>
          </a:xfrm>
          <a:prstGeom prst="ellipse">
            <a:avLst/>
          </a:prstGeom>
          <a:solidFill>
            <a:srgbClr val="00D4FF">
              <a:alpha val="25000"/>
            </a:srgbClr>
          </a:solidFill>
          <a:ln w="254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4293108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</a:t>
            </a:r>
            <a:endParaRPr lang="en-US" sz="2000" dirty="0"/>
          </a:p>
        </p:txBody>
      </p:sp>
      <p:sp>
        <p:nvSpPr>
          <p:cNvPr id="299" name="Text 297"/>
          <p:cNvSpPr/>
          <p:nvPr/>
        </p:nvSpPr>
        <p:spPr>
          <a:xfrm>
            <a:off x="3447288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Pavan Kumar D</a:t>
            </a:r>
            <a:endParaRPr lang="en-US" sz="1400" dirty="0"/>
          </a:p>
        </p:txBody>
      </p:sp>
      <p:sp>
        <p:nvSpPr>
          <p:cNvPr id="300" name="Shape 298"/>
          <p:cNvSpPr/>
          <p:nvPr/>
        </p:nvSpPr>
        <p:spPr>
          <a:xfrm>
            <a:off x="3995928" y="3502152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D4FF">
              <a:alpha val="18000"/>
            </a:srgbClr>
          </a:solidFill>
          <a:ln w="1016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3995928" y="3502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</a:t>
            </a:r>
            <a:endParaRPr lang="en-US" sz="850" dirty="0"/>
          </a:p>
        </p:txBody>
      </p:sp>
      <p:sp>
        <p:nvSpPr>
          <p:cNvPr id="302" name="Shape 300"/>
          <p:cNvSpPr/>
          <p:nvPr/>
        </p:nvSpPr>
        <p:spPr>
          <a:xfrm>
            <a:off x="3557016" y="4114800"/>
            <a:ext cx="128016" cy="0"/>
          </a:xfrm>
          <a:prstGeom prst="line">
            <a:avLst/>
          </a:prstGeom>
          <a:noFill/>
          <a:ln w="1905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3758184" y="3995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design</a:t>
            </a:r>
            <a:endParaRPr lang="en-US" sz="1150" dirty="0"/>
          </a:p>
        </p:txBody>
      </p:sp>
      <p:sp>
        <p:nvSpPr>
          <p:cNvPr id="304" name="Shape 302"/>
          <p:cNvSpPr/>
          <p:nvPr/>
        </p:nvSpPr>
        <p:spPr>
          <a:xfrm>
            <a:off x="3557016" y="4709160"/>
            <a:ext cx="128016" cy="0"/>
          </a:xfrm>
          <a:prstGeom prst="line">
            <a:avLst/>
          </a:prstGeom>
          <a:noFill/>
          <a:ln w="1905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3758184" y="4590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correlation</a:t>
            </a:r>
            <a:endParaRPr lang="en-US" sz="1150" dirty="0"/>
          </a:p>
        </p:txBody>
      </p:sp>
      <p:sp>
        <p:nvSpPr>
          <p:cNvPr id="306" name="Shape 304"/>
          <p:cNvSpPr/>
          <p:nvPr/>
        </p:nvSpPr>
        <p:spPr>
          <a:xfrm>
            <a:off x="3557016" y="5303520"/>
            <a:ext cx="128016" cy="0"/>
          </a:xfrm>
          <a:prstGeom prst="line">
            <a:avLst/>
          </a:prstGeom>
          <a:noFill/>
          <a:ln w="1905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3758184" y="5184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auto-tagging</a:t>
            </a:r>
            <a:endParaRPr lang="en-US" sz="1150" dirty="0"/>
          </a:p>
        </p:txBody>
      </p:sp>
      <p:sp>
        <p:nvSpPr>
          <p:cNvPr id="308" name="Shape 306"/>
          <p:cNvSpPr/>
          <p:nvPr/>
        </p:nvSpPr>
        <p:spPr>
          <a:xfrm>
            <a:off x="6391656" y="1783080"/>
            <a:ext cx="2697480" cy="4526280"/>
          </a:xfrm>
          <a:prstGeom prst="roundRect">
            <a:avLst>
              <a:gd name="adj" fmla="val 5424"/>
            </a:avLst>
          </a:prstGeom>
          <a:solidFill>
            <a:srgbClr val="0A1D35">
              <a:alpha val="28000"/>
            </a:srgbClr>
          </a:solidFill>
          <a:ln w="1651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9" name="Shape 307"/>
          <p:cNvSpPr/>
          <p:nvPr/>
        </p:nvSpPr>
        <p:spPr>
          <a:xfrm>
            <a:off x="6391656" y="1783080"/>
            <a:ext cx="26974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328916" y="2057400"/>
            <a:ext cx="822960" cy="822960"/>
          </a:xfrm>
          <a:prstGeom prst="ellipse">
            <a:avLst/>
          </a:prstGeom>
          <a:solidFill>
            <a:srgbClr val="A78BFA">
              <a:alpha val="25000"/>
            </a:srgbClr>
          </a:solidFill>
          <a:ln w="254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7328916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RV</a:t>
            </a:r>
            <a:endParaRPr lang="en-US" sz="2000" dirty="0"/>
          </a:p>
        </p:txBody>
      </p:sp>
      <p:sp>
        <p:nvSpPr>
          <p:cNvPr id="312" name="Text 310"/>
          <p:cNvSpPr/>
          <p:nvPr/>
        </p:nvSpPr>
        <p:spPr>
          <a:xfrm>
            <a:off x="6483096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Ravi Kumar V</a:t>
            </a:r>
            <a:endParaRPr lang="en-US" sz="1400" dirty="0"/>
          </a:p>
        </p:txBody>
      </p:sp>
      <p:sp>
        <p:nvSpPr>
          <p:cNvPr id="313" name="Shape 311"/>
          <p:cNvSpPr/>
          <p:nvPr/>
        </p:nvSpPr>
        <p:spPr>
          <a:xfrm>
            <a:off x="6986016" y="3502152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A78BFA">
              <a:alpha val="18000"/>
            </a:srgbClr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6986016" y="3502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Dev</a:t>
            </a:r>
            <a:endParaRPr lang="en-US" sz="850" dirty="0"/>
          </a:p>
        </p:txBody>
      </p:sp>
      <p:sp>
        <p:nvSpPr>
          <p:cNvPr id="315" name="Shape 313"/>
          <p:cNvSpPr/>
          <p:nvPr/>
        </p:nvSpPr>
        <p:spPr>
          <a:xfrm>
            <a:off x="6592824" y="4114800"/>
            <a:ext cx="128016" cy="0"/>
          </a:xfrm>
          <a:prstGeom prst="line">
            <a:avLst/>
          </a:prstGeom>
          <a:noFill/>
          <a:ln w="1905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6793992" y="3995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150" dirty="0"/>
          </a:p>
        </p:txBody>
      </p:sp>
      <p:sp>
        <p:nvSpPr>
          <p:cNvPr id="317" name="Shape 315"/>
          <p:cNvSpPr/>
          <p:nvPr/>
        </p:nvSpPr>
        <p:spPr>
          <a:xfrm>
            <a:off x="6592824" y="4709160"/>
            <a:ext cx="128016" cy="0"/>
          </a:xfrm>
          <a:prstGeom prst="line">
            <a:avLst/>
          </a:prstGeom>
          <a:noFill/>
          <a:ln w="1905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6793992" y="4590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319" name="Shape 317"/>
          <p:cNvSpPr/>
          <p:nvPr/>
        </p:nvSpPr>
        <p:spPr>
          <a:xfrm>
            <a:off x="6592824" y="5303520"/>
            <a:ext cx="128016" cy="0"/>
          </a:xfrm>
          <a:prstGeom prst="line">
            <a:avLst/>
          </a:prstGeom>
          <a:noFill/>
          <a:ln w="1905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6793992" y="5184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map &amp; graphs</a:t>
            </a:r>
            <a:endParaRPr lang="en-US" sz="1150" dirty="0"/>
          </a:p>
        </p:txBody>
      </p:sp>
      <p:sp>
        <p:nvSpPr>
          <p:cNvPr id="321" name="Shape 319"/>
          <p:cNvSpPr/>
          <p:nvPr/>
        </p:nvSpPr>
        <p:spPr>
          <a:xfrm>
            <a:off x="9427464" y="1783080"/>
            <a:ext cx="2697480" cy="4526280"/>
          </a:xfrm>
          <a:prstGeom prst="roundRect">
            <a:avLst>
              <a:gd name="adj" fmla="val 5424"/>
            </a:avLst>
          </a:prstGeom>
          <a:solidFill>
            <a:srgbClr val="0A1D35">
              <a:alpha val="28000"/>
            </a:srgbClr>
          </a:solidFill>
          <a:ln w="16510">
            <a:solidFill>
              <a:srgbClr val="64C864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2" name="Shape 320"/>
          <p:cNvSpPr/>
          <p:nvPr/>
        </p:nvSpPr>
        <p:spPr>
          <a:xfrm>
            <a:off x="9427464" y="1783080"/>
            <a:ext cx="2697480" cy="73152"/>
          </a:xfrm>
          <a:prstGeom prst="rect">
            <a:avLst/>
          </a:prstGeom>
          <a:solidFill>
            <a:srgbClr val="64C864"/>
          </a:solidFill>
          <a:ln w="12700">
            <a:solidFill>
              <a:srgbClr val="64C864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364724" y="2057400"/>
            <a:ext cx="822960" cy="822960"/>
          </a:xfrm>
          <a:prstGeom prst="ellipse">
            <a:avLst/>
          </a:prstGeom>
          <a:solidFill>
            <a:srgbClr val="64C864">
              <a:alpha val="25000"/>
            </a:srgbClr>
          </a:solidFill>
          <a:ln w="25400">
            <a:solidFill>
              <a:srgbClr val="64C864">
                <a:alpha val="75000"/>
              </a:srgbClr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10364724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C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</a:t>
            </a:r>
            <a:endParaRPr lang="en-US" sz="2000" dirty="0"/>
          </a:p>
        </p:txBody>
      </p:sp>
      <p:sp>
        <p:nvSpPr>
          <p:cNvPr id="325" name="Text 323"/>
          <p:cNvSpPr/>
          <p:nvPr/>
        </p:nvSpPr>
        <p:spPr>
          <a:xfrm>
            <a:off x="9518904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Risshit Madhusudhan</a:t>
            </a:r>
            <a:endParaRPr lang="en-US" sz="1400" dirty="0"/>
          </a:p>
        </p:txBody>
      </p:sp>
      <p:sp>
        <p:nvSpPr>
          <p:cNvPr id="326" name="Shape 324"/>
          <p:cNvSpPr/>
          <p:nvPr/>
        </p:nvSpPr>
        <p:spPr>
          <a:xfrm>
            <a:off x="10021824" y="3502152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64C864">
              <a:alpha val="18000"/>
            </a:srgbClr>
          </a:solidFill>
          <a:ln w="10160">
            <a:solidFill>
              <a:srgbClr val="64C864">
                <a:alpha val="50000"/>
              </a:srgbClr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10021824" y="3502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4C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Eng</a:t>
            </a:r>
            <a:endParaRPr lang="en-US" sz="850" dirty="0"/>
          </a:p>
        </p:txBody>
      </p:sp>
      <p:sp>
        <p:nvSpPr>
          <p:cNvPr id="328" name="Shape 326"/>
          <p:cNvSpPr/>
          <p:nvPr/>
        </p:nvSpPr>
        <p:spPr>
          <a:xfrm>
            <a:off x="9628632" y="4114800"/>
            <a:ext cx="128016" cy="0"/>
          </a:xfrm>
          <a:prstGeom prst="line">
            <a:avLst/>
          </a:prstGeom>
          <a:noFill/>
          <a:ln w="19050">
            <a:solidFill>
              <a:srgbClr val="64C864">
                <a:alpha val="80000"/>
              </a:srgbClr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9829800" y="39959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150" dirty="0"/>
          </a:p>
        </p:txBody>
      </p:sp>
      <p:sp>
        <p:nvSpPr>
          <p:cNvPr id="330" name="Shape 328"/>
          <p:cNvSpPr/>
          <p:nvPr/>
        </p:nvSpPr>
        <p:spPr>
          <a:xfrm>
            <a:off x="9628632" y="4709160"/>
            <a:ext cx="128016" cy="0"/>
          </a:xfrm>
          <a:prstGeom prst="line">
            <a:avLst/>
          </a:prstGeom>
          <a:noFill/>
          <a:ln w="19050">
            <a:solidFill>
              <a:srgbClr val="64C864">
                <a:alpha val="80000"/>
              </a:srgbClr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9829800" y="4590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332" name="Shape 330"/>
          <p:cNvSpPr/>
          <p:nvPr/>
        </p:nvSpPr>
        <p:spPr>
          <a:xfrm>
            <a:off x="9628632" y="5303520"/>
            <a:ext cx="128016" cy="0"/>
          </a:xfrm>
          <a:prstGeom prst="line">
            <a:avLst/>
          </a:prstGeom>
          <a:noFill/>
          <a:ln w="19050">
            <a:solidFill>
              <a:srgbClr val="64C864">
                <a:alpha val="80000"/>
              </a:srgbClr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9829800" y="5184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18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718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718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718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718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661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661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661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661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61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661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05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605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605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548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48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548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548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492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492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492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92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492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3492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92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492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436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436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436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379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79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379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379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5379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379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379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5379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379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323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323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323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323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323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266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266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266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266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266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266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266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266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266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266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266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266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9154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154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54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154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9154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154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9154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9154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154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9154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9154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50976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0976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50976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0976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0976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50976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50976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50976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0976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50976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50976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50976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0412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412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412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0412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0412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0412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0412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10412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10412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412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10412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0412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9848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9848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9848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9848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9848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9848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69848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69848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69848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9848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9848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29284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284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29284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29284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29284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29284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29284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29284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29284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29284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29284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284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1887200" y="5943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87200" y="11887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0" y="17830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87200" y="23774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1887200" y="29718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87200" y="35661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887200" y="416052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87200" y="475488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887200" y="534924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1887200" y="6537960"/>
            <a:ext cx="36576" cy="36576"/>
          </a:xfrm>
          <a:prstGeom prst="ellipse">
            <a:avLst/>
          </a:prstGeom>
          <a:solidFill>
            <a:srgbClr val="ECC155">
              <a:alpha val="7000"/>
            </a:srgbClr>
          </a:solidFill>
          <a:ln w="12700">
            <a:solidFill>
              <a:srgbClr val="ECC155">
                <a:alpha val="7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40D18">
              <a:alpha val="60000"/>
            </a:srgbClr>
          </a:solidFill>
          <a:ln w="12700">
            <a:solidFill>
              <a:srgbClr val="040D1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432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658600" y="27432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658600" y="27432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7432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658600" y="6400800"/>
            <a:ext cx="228600" cy="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1658600" y="6400800"/>
            <a:ext cx="0" cy="228600"/>
          </a:xfrm>
          <a:prstGeom prst="line">
            <a:avLst/>
          </a:prstGeom>
          <a:noFill/>
          <a:ln w="1905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1042507" y="3471270"/>
            <a:ext cx="65936" cy="65936"/>
          </a:xfrm>
          <a:prstGeom prst="ellipse">
            <a:avLst/>
          </a:prstGeom>
          <a:solidFill>
            <a:srgbClr val="E8EDF5">
              <a:alpha val="1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358834" y="5110653"/>
            <a:ext cx="32954" cy="32954"/>
          </a:xfrm>
          <a:prstGeom prst="ellipse">
            <a:avLst/>
          </a:prstGeom>
          <a:solidFill>
            <a:srgbClr val="ECC155">
              <a:alpha val="29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1635256" y="3749871"/>
            <a:ext cx="37918" cy="37918"/>
          </a:xfrm>
          <a:prstGeom prst="ellipse">
            <a:avLst/>
          </a:prstGeom>
          <a:solidFill>
            <a:srgbClr val="ECC155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3752860" y="5537882"/>
            <a:ext cx="65657" cy="65657"/>
          </a:xfrm>
          <a:prstGeom prst="ellipse">
            <a:avLst/>
          </a:prstGeom>
          <a:solidFill>
            <a:srgbClr val="ECC155">
              <a:alpha val="19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124676" y="1613186"/>
            <a:ext cx="75748" cy="75748"/>
          </a:xfrm>
          <a:prstGeom prst="ellipse">
            <a:avLst/>
          </a:prstGeom>
          <a:solidFill>
            <a:srgbClr val="ECC155">
              <a:alpha val="3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849785" y="2733990"/>
            <a:ext cx="63116" cy="63116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902404" y="5274939"/>
            <a:ext cx="63089" cy="63089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695305" y="5099708"/>
            <a:ext cx="38229" cy="38229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053079" y="1224579"/>
            <a:ext cx="68185" cy="68185"/>
          </a:xfrm>
          <a:prstGeom prst="ellipse">
            <a:avLst/>
          </a:prstGeom>
          <a:solidFill>
            <a:srgbClr val="ECC155">
              <a:alpha val="44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074794" y="736875"/>
            <a:ext cx="38351" cy="38351"/>
          </a:xfrm>
          <a:prstGeom prst="ellipse">
            <a:avLst/>
          </a:prstGeom>
          <a:solidFill>
            <a:srgbClr val="ECC155">
              <a:alpha val="4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466577" y="904897"/>
            <a:ext cx="41340" cy="41340"/>
          </a:xfrm>
          <a:prstGeom prst="ellipse">
            <a:avLst/>
          </a:prstGeom>
          <a:solidFill>
            <a:srgbClr val="00D4FF">
              <a:alpha val="31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883504" y="534756"/>
            <a:ext cx="56111" cy="56111"/>
          </a:xfrm>
          <a:prstGeom prst="ellipse">
            <a:avLst/>
          </a:prstGeom>
          <a:solidFill>
            <a:srgbClr val="ECC155">
              <a:alpha val="42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121885" y="4152562"/>
            <a:ext cx="45724" cy="45724"/>
          </a:xfrm>
          <a:prstGeom prst="ellipse">
            <a:avLst/>
          </a:prstGeom>
          <a:solidFill>
            <a:srgbClr val="ECC155">
              <a:alpha val="3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549653" y="2457410"/>
            <a:ext cx="85470" cy="85470"/>
          </a:xfrm>
          <a:prstGeom prst="ellipse">
            <a:avLst/>
          </a:prstGeom>
          <a:solidFill>
            <a:srgbClr val="00D4FF">
              <a:alpha val="44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095600" y="4069908"/>
            <a:ext cx="75653" cy="75653"/>
          </a:xfrm>
          <a:prstGeom prst="ellipse">
            <a:avLst/>
          </a:prstGeom>
          <a:solidFill>
            <a:srgbClr val="ECC155">
              <a:alpha val="18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097316" y="2541888"/>
            <a:ext cx="77353" cy="77353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315934" y="1460342"/>
            <a:ext cx="82306" cy="82306"/>
          </a:xfrm>
          <a:prstGeom prst="ellipse">
            <a:avLst/>
          </a:prstGeom>
          <a:solidFill>
            <a:srgbClr val="00D4FF">
              <a:alpha val="44000"/>
            </a:srgbClr>
          </a:solidFill>
          <a:ln w="12700">
            <a:solidFill>
              <a:srgbClr val="E8EDF5">
                <a:alpha val="20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092660" y="6033758"/>
            <a:ext cx="50206" cy="50206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054659" y="1296244"/>
            <a:ext cx="59402" cy="59402"/>
          </a:xfrm>
          <a:prstGeom prst="ellipse">
            <a:avLst/>
          </a:prstGeom>
          <a:solidFill>
            <a:srgbClr val="00D4FF">
              <a:alpha val="23000"/>
            </a:srgbClr>
          </a:solidFill>
          <a:ln w="12700">
            <a:solidFill>
              <a:srgbClr val="E8EDF5">
                <a:alpha val="20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362110" y="662773"/>
            <a:ext cx="45367" cy="45367"/>
          </a:xfrm>
          <a:prstGeom prst="ellipse">
            <a:avLst/>
          </a:prstGeom>
          <a:solidFill>
            <a:srgbClr val="E8EDF5">
              <a:alpha val="45000"/>
            </a:srgbClr>
          </a:solidFill>
          <a:ln w="12700">
            <a:solidFill>
              <a:srgbClr val="E8EDF5">
                <a:alpha val="20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714294" y="582114"/>
            <a:ext cx="38741" cy="38741"/>
          </a:xfrm>
          <a:prstGeom prst="ellipse">
            <a:avLst/>
          </a:prstGeom>
          <a:solidFill>
            <a:srgbClr val="E8EDF5">
              <a:alpha val="29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542229" y="3726662"/>
            <a:ext cx="43557" cy="43557"/>
          </a:xfrm>
          <a:prstGeom prst="ellipse">
            <a:avLst/>
          </a:prstGeom>
          <a:solidFill>
            <a:srgbClr val="00D4FF">
              <a:alpha val="17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20904" y="3537162"/>
            <a:ext cx="84393" cy="84393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589171" y="2240766"/>
            <a:ext cx="58934" cy="58934"/>
          </a:xfrm>
          <a:prstGeom prst="ellipse">
            <a:avLst/>
          </a:prstGeom>
          <a:solidFill>
            <a:srgbClr val="E8EDF5">
              <a:alpha val="33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7929185" y="4696025"/>
            <a:ext cx="59237" cy="59237"/>
          </a:xfrm>
          <a:prstGeom prst="ellipse">
            <a:avLst/>
          </a:prstGeom>
          <a:solidFill>
            <a:srgbClr val="00D4FF">
              <a:alpha val="21000"/>
            </a:srgbClr>
          </a:solidFill>
          <a:ln w="12700">
            <a:solidFill>
              <a:srgbClr val="ECC155">
                <a:alpha val="2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865224" y="4654009"/>
            <a:ext cx="69064" cy="69064"/>
          </a:xfrm>
          <a:prstGeom prst="ellipse">
            <a:avLst/>
          </a:prstGeom>
          <a:solidFill>
            <a:srgbClr val="E8EDF5">
              <a:alpha val="41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2303986" y="5634850"/>
            <a:ext cx="43275" cy="43275"/>
          </a:xfrm>
          <a:prstGeom prst="ellipse">
            <a:avLst/>
          </a:prstGeom>
          <a:solidFill>
            <a:srgbClr val="ECC155">
              <a:alpha val="2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1013097" y="2744942"/>
            <a:ext cx="45367" cy="45367"/>
          </a:xfrm>
          <a:prstGeom prst="ellipse">
            <a:avLst/>
          </a:prstGeom>
          <a:solidFill>
            <a:srgbClr val="E8EDF5">
              <a:alpha val="36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6585153" y="1705332"/>
            <a:ext cx="42991" cy="42991"/>
          </a:xfrm>
          <a:prstGeom prst="ellipse">
            <a:avLst/>
          </a:prstGeom>
          <a:solidFill>
            <a:srgbClr val="E8EDF5">
              <a:alpha val="42000"/>
            </a:srgbClr>
          </a:solidFill>
          <a:ln w="12700">
            <a:solidFill>
              <a:srgbClr val="E8EDF5">
                <a:alpha val="20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125865" y="2300712"/>
            <a:ext cx="53317" cy="53317"/>
          </a:xfrm>
          <a:prstGeom prst="ellipse">
            <a:avLst/>
          </a:prstGeom>
          <a:solidFill>
            <a:srgbClr val="ECC155">
              <a:alpha val="17000"/>
            </a:srgbClr>
          </a:solidFill>
          <a:ln w="12700">
            <a:solidFill>
              <a:srgbClr val="E8EDF5">
                <a:alpha val="20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520440" y="868680"/>
            <a:ext cx="5120640" cy="5120640"/>
          </a:xfrm>
          <a:prstGeom prst="ellipse">
            <a:avLst/>
          </a:prstGeom>
          <a:solidFill>
            <a:srgbClr val="ECC155">
              <a:alpha val="3000"/>
            </a:srgbClr>
          </a:solidFill>
          <a:ln w="10160">
            <a:solidFill>
              <a:srgbClr val="ECC155">
                <a:alpha val="30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069080" y="1417320"/>
            <a:ext cx="4023360" cy="4023360"/>
          </a:xfrm>
          <a:prstGeom prst="ellipse">
            <a:avLst/>
          </a:prstGeom>
          <a:solidFill>
            <a:srgbClr val="ECC155">
              <a:alpha val="3000"/>
            </a:srgbClr>
          </a:solidFill>
          <a:ln w="10160">
            <a:solidFill>
              <a:srgbClr val="ECC155">
                <a:alpha val="24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617720" y="1965960"/>
            <a:ext cx="2926080" cy="2926080"/>
          </a:xfrm>
          <a:prstGeom prst="ellipse">
            <a:avLst/>
          </a:prstGeom>
          <a:solidFill>
            <a:srgbClr val="ECC155">
              <a:alpha val="3000"/>
            </a:srgbClr>
          </a:solidFill>
          <a:ln w="10160">
            <a:solidFill>
              <a:srgbClr val="ECC155">
                <a:alpha val="18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166360" y="2514600"/>
            <a:ext cx="1828800" cy="1828800"/>
          </a:xfrm>
          <a:prstGeom prst="ellipse">
            <a:avLst/>
          </a:prstGeom>
          <a:solidFill>
            <a:srgbClr val="ECC155">
              <a:alpha val="3000"/>
            </a:srgbClr>
          </a:solidFill>
          <a:ln w="10160">
            <a:solidFill>
              <a:srgbClr val="ECC155">
                <a:alpha val="12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943600" y="3291840"/>
            <a:ext cx="274320" cy="274320"/>
          </a:xfrm>
          <a:prstGeom prst="ellipse">
            <a:avLst/>
          </a:prstGeom>
          <a:solidFill>
            <a:srgbClr val="ECC155">
              <a:alpha val="80000"/>
            </a:srgbClr>
          </a:solidFill>
          <a:ln w="19050">
            <a:solidFill>
              <a:srgbClr val="ECC155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92640" y="182880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1A2E4A">
              <a:alpha val="40000"/>
            </a:srgbClr>
          </a:solidFill>
          <a:ln w="12700">
            <a:solidFill>
              <a:srgbClr val="6B7FA3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0" name="Text 298"/>
          <p:cNvSpPr/>
          <p:nvPr/>
        </p:nvSpPr>
        <p:spPr>
          <a:xfrm>
            <a:off x="9738360" y="201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BUILD ON BASE HACKATHON</a:t>
            </a:r>
            <a:endParaRPr lang="en-US" sz="650" dirty="0"/>
          </a:p>
        </p:txBody>
      </p:sp>
      <p:sp>
        <p:nvSpPr>
          <p:cNvPr id="301" name="Text 299"/>
          <p:cNvSpPr/>
          <p:nvPr/>
        </p:nvSpPr>
        <p:spPr>
          <a:xfrm>
            <a:off x="457200" y="59436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ThreatLens AI</a:t>
            </a:r>
            <a:endParaRPr lang="en-US" sz="4800" dirty="0"/>
          </a:p>
        </p:txBody>
      </p:sp>
      <p:sp>
        <p:nvSpPr>
          <p:cNvPr id="302" name="Text 300"/>
          <p:cNvSpPr/>
          <p:nvPr/>
        </p:nvSpPr>
        <p:spPr>
          <a:xfrm>
            <a:off x="457200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V2.1  ·  IBM BUILD ON BASE HACKATHON  ·  2025</a:t>
            </a:r>
            <a:endParaRPr lang="en-US" sz="900" dirty="0"/>
          </a:p>
        </p:txBody>
      </p:sp>
      <p:sp>
        <p:nvSpPr>
          <p:cNvPr id="303" name="Text 301"/>
          <p:cNvSpPr/>
          <p:nvPr/>
        </p:nvSpPr>
        <p:spPr>
          <a:xfrm>
            <a:off x="457200" y="1920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
</a:t>
            </a:r>
            <a:pPr algn="ctr" indent="0" marL="0">
              <a:lnSpc>
                <a:spcPct val="110000"/>
              </a:lnSpc>
              <a:buNone/>
            </a:pPr>
            <a:r>
              <a:rPr lang="en-US" sz="62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Intelligence</a:t>
            </a:r>
            <a:endParaRPr lang="en-US" sz="6200" dirty="0"/>
          </a:p>
        </p:txBody>
      </p:sp>
      <p:sp>
        <p:nvSpPr>
          <p:cNvPr id="304" name="Text 302"/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overload  </a:t>
            </a:r>
            <a:pPr algn="ctr" indent="0" marL="0">
              <a:buNone/>
            </a:pPr>
            <a:r>
              <a:rPr lang="en-US" sz="2000" b="1" dirty="0">
                <a:solidFill>
                  <a:srgbClr val="ECC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Intelligent action</a:t>
            </a:r>
            <a:endParaRPr lang="en-US" sz="2000" dirty="0"/>
          </a:p>
        </p:txBody>
      </p:sp>
      <p:sp>
        <p:nvSpPr>
          <p:cNvPr id="305" name="Text 303"/>
          <p:cNvSpPr/>
          <p:nvPr/>
        </p:nvSpPr>
        <p:spPr>
          <a:xfrm>
            <a:off x="457200" y="477316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defense for modern security teams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Correlate · Prioritize · Respond</a:t>
            </a:r>
            <a:endParaRPr lang="en-US" sz="1350" dirty="0"/>
          </a:p>
        </p:txBody>
      </p:sp>
      <p:sp>
        <p:nvSpPr>
          <p:cNvPr id="306" name="Shape 304"/>
          <p:cNvSpPr/>
          <p:nvPr/>
        </p:nvSpPr>
        <p:spPr>
          <a:xfrm>
            <a:off x="4069080" y="56692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CC155">
              <a:alpha val="12000"/>
            </a:srgbClr>
          </a:solidFill>
          <a:ln w="10160">
            <a:solidFill>
              <a:srgbClr val="ECC155">
                <a:alpha val="50000"/>
              </a:srgbClr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4069080" y="5687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CC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FULLY LOCAL</a:t>
            </a:r>
            <a:endParaRPr lang="en-US" sz="850" dirty="0"/>
          </a:p>
        </p:txBody>
      </p:sp>
      <p:sp>
        <p:nvSpPr>
          <p:cNvPr id="308" name="Shape 306"/>
          <p:cNvSpPr/>
          <p:nvPr/>
        </p:nvSpPr>
        <p:spPr>
          <a:xfrm>
            <a:off x="5760720" y="56692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12000"/>
            </a:srgbClr>
          </a:solidFill>
          <a:ln w="1016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5760720" y="5687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POWERED</a:t>
            </a:r>
            <a:endParaRPr lang="en-US" sz="850" dirty="0"/>
          </a:p>
        </p:txBody>
      </p:sp>
      <p:sp>
        <p:nvSpPr>
          <p:cNvPr id="310" name="Shape 308"/>
          <p:cNvSpPr/>
          <p:nvPr/>
        </p:nvSpPr>
        <p:spPr>
          <a:xfrm>
            <a:off x="7452360" y="56692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64C864">
              <a:alpha val="12000"/>
            </a:srgbClr>
          </a:solidFill>
          <a:ln w="10160">
            <a:solidFill>
              <a:srgbClr val="64C864">
                <a:alpha val="50000"/>
              </a:srgbClr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7452360" y="5687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4C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ThreatLens V2.1 — IBM Hackathon</dc:title>
  <dc:subject>PptxGenJS Presentation</dc:subject>
  <dc:creator>Varen Gaurav</dc:creator>
  <cp:lastModifiedBy>Varen Gaurav</cp:lastModifiedBy>
  <cp:revision>1</cp:revision>
  <dcterms:created xsi:type="dcterms:W3CDTF">2026-05-17T11:55:59Z</dcterms:created>
  <dcterms:modified xsi:type="dcterms:W3CDTF">2026-05-17T11:55:59Z</dcterms:modified>
</cp:coreProperties>
</file>